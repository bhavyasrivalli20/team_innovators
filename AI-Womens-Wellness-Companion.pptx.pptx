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Source Serif Pro Bold" charset="0"/>
      <p:regular r:id="rId15"/>
    </p:embeddedFont>
    <p:embeddedFont>
      <p:font typeface="Source Serif Pro" charset="0"/>
      <p:regular r:id="rId16"/>
    </p:embeddedFont>
    <p:embeddedFont>
      <p:font typeface="Canva Sans Bold" charset="0"/>
      <p:regular r:id="rId17"/>
    </p:embeddedFont>
    <p:embeddedFont>
      <p:font typeface="Calibri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-75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pPr/>
              <a:t>10.07.2026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jpe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1.sv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12" Type="http://schemas.openxmlformats.org/officeDocument/2006/relationships/image" Target="../media/image13.png"/><Relationship Id="rId17" Type="http://schemas.openxmlformats.org/officeDocument/2006/relationships/image" Target="../media/image25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7.sv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1.jpeg"/><Relationship Id="rId7" Type="http://schemas.openxmlformats.org/officeDocument/2006/relationships/image" Target="../media/image33.png"/><Relationship Id="rId12" Type="http://schemas.openxmlformats.org/officeDocument/2006/relationships/image" Target="../media/image5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image" Target="../media/image48.svg"/><Relationship Id="rId4" Type="http://schemas.openxmlformats.org/officeDocument/2006/relationships/image" Target="../media/image31.jpe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7781325" cy="10287000"/>
            <a:chOff x="0" y="0"/>
            <a:chExt cx="103751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375100" cy="13716000"/>
            </a:xfrm>
            <a:custGeom>
              <a:avLst/>
              <a:gdLst/>
              <a:ahLst/>
              <a:cxnLst/>
              <a:rect l="l" t="t" r="r" b="b"/>
              <a:pathLst>
                <a:path w="10375100" h="13716000">
                  <a:moveTo>
                    <a:pt x="0" y="0"/>
                  </a:moveTo>
                  <a:lnTo>
                    <a:pt x="10375100" y="0"/>
                  </a:lnTo>
                  <a:lnTo>
                    <a:pt x="103751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l="-17981" r="-17981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7905150" y="1290790"/>
            <a:ext cx="3041132" cy="86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371A2D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Saheli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3609" y="2438552"/>
            <a:ext cx="9335691" cy="2436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4"/>
              </a:lnSpc>
            </a:pPr>
            <a:r>
              <a:rPr lang="en-US" sz="7600" dirty="0" smtClean="0">
                <a:solidFill>
                  <a:srgbClr val="371A2D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Women's </a:t>
            </a:r>
            <a:r>
              <a:rPr lang="en-US" sz="7600" dirty="0">
                <a:solidFill>
                  <a:srgbClr val="371A2D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Wellness Companion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84639" y="4866194"/>
            <a:ext cx="9335691" cy="2553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07"/>
              </a:lnSpc>
            </a:pPr>
            <a:r>
              <a:rPr lang="en-US" sz="31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Empowering women through AI-powered wellness support, fitness guidance, nutrition awareness, mental wellbeing, and personalized healthcare insights.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52484" y="8442962"/>
            <a:ext cx="5158729" cy="81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 :K.Bhavya Sri Valli</a:t>
            </a:r>
          </a:p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P.L.Prasanna Valli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7467600" y="0"/>
            <a:ext cx="2896553" cy="609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600" b="1" dirty="0">
                <a:solidFill>
                  <a:srgbClr val="371A2D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About </a:t>
            </a:r>
            <a:r>
              <a:rPr lang="en-US" sz="3600" b="1" dirty="0" err="1">
                <a:solidFill>
                  <a:srgbClr val="371A2D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Saheli</a:t>
            </a:r>
            <a:endParaRPr lang="en-US" sz="3600" b="1" dirty="0">
              <a:solidFill>
                <a:srgbClr val="371A2D"/>
              </a:solidFill>
              <a:latin typeface="Source Serif Pro Bold"/>
              <a:ea typeface="Source Serif Pro Bold"/>
              <a:cs typeface="Source Serif Pro Bold"/>
              <a:sym typeface="Source Serif Pr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086610" y="981075"/>
            <a:ext cx="10972770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49"/>
              </a:lnSpc>
            </a:pPr>
            <a:r>
              <a:rPr lang="en-US" sz="2499" dirty="0" err="1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Saheli</a:t>
            </a:r>
            <a:r>
              <a:rPr lang="en-US" sz="2499" dirty="0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is an AI-powered Women's Wellness Companion that unifies physical health, mental wellbeing, nutrition, fitness, medication tracking, and women's healthcare awareness into one intelligent ecosystem. With AI-driven recommendations and a supportive community, </a:t>
            </a:r>
            <a:r>
              <a:rPr lang="en-US" sz="2499" dirty="0" err="1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Saheli</a:t>
            </a:r>
            <a:r>
              <a:rPr lang="en-US" sz="2499" dirty="0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makes wellness simple, accessible, and personalized for every woman.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900387" y="3164386"/>
            <a:ext cx="9345216" cy="1962893"/>
            <a:chOff x="0" y="0"/>
            <a:chExt cx="12460288" cy="26171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60351" cy="2617216"/>
            </a:xfrm>
            <a:custGeom>
              <a:avLst/>
              <a:gdLst/>
              <a:ahLst/>
              <a:cxnLst/>
              <a:rect l="l" t="t" r="r" b="b"/>
              <a:pathLst>
                <a:path w="12460351" h="2617216">
                  <a:moveTo>
                    <a:pt x="0" y="121031"/>
                  </a:moveTo>
                  <a:cubicBezTo>
                    <a:pt x="0" y="54229"/>
                    <a:pt x="54229" y="0"/>
                    <a:pt x="121031" y="0"/>
                  </a:cubicBezTo>
                  <a:lnTo>
                    <a:pt x="12339320" y="0"/>
                  </a:lnTo>
                  <a:cubicBezTo>
                    <a:pt x="12406122" y="0"/>
                    <a:pt x="12460351" y="54229"/>
                    <a:pt x="12460351" y="121031"/>
                  </a:cubicBezTo>
                  <a:lnTo>
                    <a:pt x="12460351" y="2496185"/>
                  </a:lnTo>
                  <a:cubicBezTo>
                    <a:pt x="12460351" y="2562987"/>
                    <a:pt x="12406122" y="2617216"/>
                    <a:pt x="12339320" y="2617216"/>
                  </a:cubicBezTo>
                  <a:lnTo>
                    <a:pt x="121031" y="2617216"/>
                  </a:lnTo>
                  <a:cubicBezTo>
                    <a:pt x="54229" y="2617216"/>
                    <a:pt x="0" y="2562987"/>
                    <a:pt x="0" y="2496185"/>
                  </a:cubicBezTo>
                  <a:close/>
                </a:path>
              </a:pathLst>
            </a:custGeom>
            <a:solidFill>
              <a:srgbClr val="FECDEC"/>
            </a:solidFill>
            <a:ln w="9526" cap="sq">
              <a:solidFill>
                <a:srgbClr val="E4B3D2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129740" y="3393729"/>
            <a:ext cx="645166" cy="645166"/>
            <a:chOff x="0" y="0"/>
            <a:chExt cx="860222" cy="86022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60171" cy="860171"/>
            </a:xfrm>
            <a:custGeom>
              <a:avLst/>
              <a:gdLst/>
              <a:ahLst/>
              <a:cxnLst/>
              <a:rect l="l" t="t" r="r" b="b"/>
              <a:pathLst>
                <a:path w="860171" h="860171">
                  <a:moveTo>
                    <a:pt x="0" y="430149"/>
                  </a:moveTo>
                  <a:cubicBezTo>
                    <a:pt x="0" y="192532"/>
                    <a:pt x="192532" y="0"/>
                    <a:pt x="430149" y="0"/>
                  </a:cubicBezTo>
                  <a:cubicBezTo>
                    <a:pt x="667766" y="0"/>
                    <a:pt x="860171" y="192532"/>
                    <a:pt x="860171" y="430149"/>
                  </a:cubicBezTo>
                  <a:cubicBezTo>
                    <a:pt x="860171" y="667766"/>
                    <a:pt x="667639" y="860171"/>
                    <a:pt x="430149" y="860171"/>
                  </a:cubicBezTo>
                  <a:cubicBezTo>
                    <a:pt x="192659" y="860171"/>
                    <a:pt x="0" y="667639"/>
                    <a:pt x="0" y="430149"/>
                  </a:cubicBezTo>
                  <a:close/>
                </a:path>
              </a:pathLst>
            </a:custGeom>
            <a:solidFill>
              <a:srgbClr val="FD8ED5"/>
            </a:solidFill>
          </p:spPr>
        </p:sp>
      </p:grpSp>
      <p:sp>
        <p:nvSpPr>
          <p:cNvPr id="12" name="Freeform 12" descr="preencoded.png"/>
          <p:cNvSpPr/>
          <p:nvPr/>
        </p:nvSpPr>
        <p:spPr>
          <a:xfrm>
            <a:off x="8307143" y="3571132"/>
            <a:ext cx="290217" cy="290217"/>
          </a:xfrm>
          <a:custGeom>
            <a:avLst/>
            <a:gdLst/>
            <a:ahLst/>
            <a:cxnLst/>
            <a:rect l="l" t="t" r="r" b="b"/>
            <a:pathLst>
              <a:path w="290217" h="290217">
                <a:moveTo>
                  <a:pt x="0" y="0"/>
                </a:moveTo>
                <a:lnTo>
                  <a:pt x="290217" y="0"/>
                </a:lnTo>
                <a:lnTo>
                  <a:pt x="290217" y="290217"/>
                </a:lnTo>
                <a:lnTo>
                  <a:pt x="0" y="290217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l="-8063" r="-8063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948279" y="3466024"/>
            <a:ext cx="8886530" cy="44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8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Holistic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29740" y="4257970"/>
            <a:ext cx="8886530" cy="536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Complete wellness in one platform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900387" y="5272230"/>
            <a:ext cx="9345216" cy="1962893"/>
            <a:chOff x="0" y="0"/>
            <a:chExt cx="12460288" cy="261719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460351" cy="2617216"/>
            </a:xfrm>
            <a:custGeom>
              <a:avLst/>
              <a:gdLst/>
              <a:ahLst/>
              <a:cxnLst/>
              <a:rect l="l" t="t" r="r" b="b"/>
              <a:pathLst>
                <a:path w="12460351" h="2617216">
                  <a:moveTo>
                    <a:pt x="0" y="121031"/>
                  </a:moveTo>
                  <a:cubicBezTo>
                    <a:pt x="0" y="54229"/>
                    <a:pt x="54229" y="0"/>
                    <a:pt x="121031" y="0"/>
                  </a:cubicBezTo>
                  <a:lnTo>
                    <a:pt x="12339320" y="0"/>
                  </a:lnTo>
                  <a:cubicBezTo>
                    <a:pt x="12406122" y="0"/>
                    <a:pt x="12460351" y="54229"/>
                    <a:pt x="12460351" y="121031"/>
                  </a:cubicBezTo>
                  <a:lnTo>
                    <a:pt x="12460351" y="2496185"/>
                  </a:lnTo>
                  <a:cubicBezTo>
                    <a:pt x="12460351" y="2562987"/>
                    <a:pt x="12406122" y="2617216"/>
                    <a:pt x="12339320" y="2617216"/>
                  </a:cubicBezTo>
                  <a:lnTo>
                    <a:pt x="121031" y="2617216"/>
                  </a:lnTo>
                  <a:cubicBezTo>
                    <a:pt x="54229" y="2617216"/>
                    <a:pt x="0" y="2562987"/>
                    <a:pt x="0" y="2496185"/>
                  </a:cubicBezTo>
                  <a:close/>
                </a:path>
              </a:pathLst>
            </a:custGeom>
            <a:solidFill>
              <a:srgbClr val="FECDEC"/>
            </a:solidFill>
            <a:ln w="9526" cap="sq">
              <a:solidFill>
                <a:srgbClr val="E4B3D2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129740" y="5501583"/>
            <a:ext cx="645166" cy="645166"/>
            <a:chOff x="0" y="0"/>
            <a:chExt cx="860222" cy="8602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0171" cy="860171"/>
            </a:xfrm>
            <a:custGeom>
              <a:avLst/>
              <a:gdLst/>
              <a:ahLst/>
              <a:cxnLst/>
              <a:rect l="l" t="t" r="r" b="b"/>
              <a:pathLst>
                <a:path w="860171" h="860171">
                  <a:moveTo>
                    <a:pt x="0" y="430149"/>
                  </a:moveTo>
                  <a:cubicBezTo>
                    <a:pt x="0" y="192532"/>
                    <a:pt x="192532" y="0"/>
                    <a:pt x="430149" y="0"/>
                  </a:cubicBezTo>
                  <a:cubicBezTo>
                    <a:pt x="667766" y="0"/>
                    <a:pt x="860171" y="192532"/>
                    <a:pt x="860171" y="430149"/>
                  </a:cubicBezTo>
                  <a:cubicBezTo>
                    <a:pt x="860171" y="667766"/>
                    <a:pt x="667639" y="860171"/>
                    <a:pt x="430149" y="860171"/>
                  </a:cubicBezTo>
                  <a:cubicBezTo>
                    <a:pt x="192659" y="860171"/>
                    <a:pt x="0" y="667639"/>
                    <a:pt x="0" y="430149"/>
                  </a:cubicBezTo>
                  <a:close/>
                </a:path>
              </a:pathLst>
            </a:custGeom>
            <a:solidFill>
              <a:srgbClr val="FD8ED5"/>
            </a:solidFill>
          </p:spPr>
        </p:sp>
      </p:grpSp>
      <p:sp>
        <p:nvSpPr>
          <p:cNvPr id="19" name="Freeform 19" descr="preencoded.png"/>
          <p:cNvSpPr/>
          <p:nvPr/>
        </p:nvSpPr>
        <p:spPr>
          <a:xfrm>
            <a:off x="8307143" y="5678986"/>
            <a:ext cx="290217" cy="290217"/>
          </a:xfrm>
          <a:custGeom>
            <a:avLst/>
            <a:gdLst/>
            <a:ahLst/>
            <a:cxnLst/>
            <a:rect l="l" t="t" r="r" b="b"/>
            <a:pathLst>
              <a:path w="290217" h="290217">
                <a:moveTo>
                  <a:pt x="0" y="0"/>
                </a:moveTo>
                <a:lnTo>
                  <a:pt x="290217" y="0"/>
                </a:lnTo>
                <a:lnTo>
                  <a:pt x="290217" y="290217"/>
                </a:lnTo>
                <a:lnTo>
                  <a:pt x="0" y="290217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948279" y="5594880"/>
            <a:ext cx="8886530" cy="44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8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Community-Driven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29740" y="6299149"/>
            <a:ext cx="8886530" cy="536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Safe, supportive, anonymous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900387" y="7380084"/>
            <a:ext cx="9345216" cy="1962893"/>
            <a:chOff x="0" y="0"/>
            <a:chExt cx="12460288" cy="261719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460351" cy="2617216"/>
            </a:xfrm>
            <a:custGeom>
              <a:avLst/>
              <a:gdLst/>
              <a:ahLst/>
              <a:cxnLst/>
              <a:rect l="l" t="t" r="r" b="b"/>
              <a:pathLst>
                <a:path w="12460351" h="2617216">
                  <a:moveTo>
                    <a:pt x="0" y="121031"/>
                  </a:moveTo>
                  <a:cubicBezTo>
                    <a:pt x="0" y="54229"/>
                    <a:pt x="54229" y="0"/>
                    <a:pt x="121031" y="0"/>
                  </a:cubicBezTo>
                  <a:lnTo>
                    <a:pt x="12339320" y="0"/>
                  </a:lnTo>
                  <a:cubicBezTo>
                    <a:pt x="12406122" y="0"/>
                    <a:pt x="12460351" y="54229"/>
                    <a:pt x="12460351" y="121031"/>
                  </a:cubicBezTo>
                  <a:lnTo>
                    <a:pt x="12460351" y="2496185"/>
                  </a:lnTo>
                  <a:cubicBezTo>
                    <a:pt x="12460351" y="2562987"/>
                    <a:pt x="12406122" y="2617216"/>
                    <a:pt x="12339320" y="2617216"/>
                  </a:cubicBezTo>
                  <a:lnTo>
                    <a:pt x="121031" y="2617216"/>
                  </a:lnTo>
                  <a:cubicBezTo>
                    <a:pt x="54229" y="2617216"/>
                    <a:pt x="0" y="2562987"/>
                    <a:pt x="0" y="2496185"/>
                  </a:cubicBezTo>
                  <a:close/>
                </a:path>
              </a:pathLst>
            </a:custGeom>
            <a:solidFill>
              <a:srgbClr val="FECDEC"/>
            </a:solidFill>
            <a:ln w="9526" cap="sq">
              <a:solidFill>
                <a:srgbClr val="E4B3D2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8129740" y="7609437"/>
            <a:ext cx="645166" cy="645166"/>
            <a:chOff x="0" y="0"/>
            <a:chExt cx="860222" cy="86022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60171" cy="860171"/>
            </a:xfrm>
            <a:custGeom>
              <a:avLst/>
              <a:gdLst/>
              <a:ahLst/>
              <a:cxnLst/>
              <a:rect l="l" t="t" r="r" b="b"/>
              <a:pathLst>
                <a:path w="860171" h="860171">
                  <a:moveTo>
                    <a:pt x="0" y="430149"/>
                  </a:moveTo>
                  <a:cubicBezTo>
                    <a:pt x="0" y="192532"/>
                    <a:pt x="192532" y="0"/>
                    <a:pt x="430149" y="0"/>
                  </a:cubicBezTo>
                  <a:cubicBezTo>
                    <a:pt x="667766" y="0"/>
                    <a:pt x="860171" y="192532"/>
                    <a:pt x="860171" y="430149"/>
                  </a:cubicBezTo>
                  <a:cubicBezTo>
                    <a:pt x="860171" y="667766"/>
                    <a:pt x="667639" y="860171"/>
                    <a:pt x="430149" y="860171"/>
                  </a:cubicBezTo>
                  <a:cubicBezTo>
                    <a:pt x="192659" y="860171"/>
                    <a:pt x="0" y="667639"/>
                    <a:pt x="0" y="430149"/>
                  </a:cubicBezTo>
                  <a:close/>
                </a:path>
              </a:pathLst>
            </a:custGeom>
            <a:solidFill>
              <a:srgbClr val="FD8ED5"/>
            </a:solidFill>
          </p:spPr>
        </p:sp>
      </p:grpSp>
      <p:sp>
        <p:nvSpPr>
          <p:cNvPr id="26" name="Freeform 26" descr="preencoded.png"/>
          <p:cNvSpPr/>
          <p:nvPr/>
        </p:nvSpPr>
        <p:spPr>
          <a:xfrm>
            <a:off x="8307143" y="7786840"/>
            <a:ext cx="290217" cy="290217"/>
          </a:xfrm>
          <a:custGeom>
            <a:avLst/>
            <a:gdLst/>
            <a:ahLst/>
            <a:cxnLst/>
            <a:rect l="l" t="t" r="r" b="b"/>
            <a:pathLst>
              <a:path w="290217" h="290217">
                <a:moveTo>
                  <a:pt x="0" y="0"/>
                </a:moveTo>
                <a:lnTo>
                  <a:pt x="290217" y="0"/>
                </a:lnTo>
                <a:lnTo>
                  <a:pt x="290217" y="290217"/>
                </a:lnTo>
                <a:lnTo>
                  <a:pt x="0" y="290217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t="-27418" b="-27418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948279" y="7702734"/>
            <a:ext cx="8886530" cy="44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8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Accessible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29740" y="8473678"/>
            <a:ext cx="8886530" cy="536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User-friendly web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48046" y="432368"/>
            <a:ext cx="2509599" cy="503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8"/>
              </a:lnSpc>
            </a:pPr>
            <a:r>
              <a:rPr lang="en-US" sz="3299" b="1">
                <a:solidFill>
                  <a:srgbClr val="371A2D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The 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4684" y="1235395"/>
            <a:ext cx="16193691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Women juggle multiple apps and websites to manage their health — yet no single platform connects the dots. Mental wellness, fitness, nutrition, period tracking, and medication reminders all exist in silos. Sensitive health conversations often go unheard.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35986" y="3272712"/>
            <a:ext cx="7914380" cy="54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599" b="1">
                <a:solidFill>
                  <a:srgbClr val="371A2D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What's Missing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3812741"/>
            <a:ext cx="7914380" cy="391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372" lvl="1" indent="-313686" algn="just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Mental wellness resources are scattered and hard to find</a:t>
            </a:r>
          </a:p>
          <a:p>
            <a:pPr marL="627372" lvl="1" indent="-313686" algn="just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Fitness guidance is disconnected from nutrition planning</a:t>
            </a:r>
          </a:p>
          <a:p>
            <a:pPr marL="627372" lvl="1" indent="-313686" algn="just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Period tracking lacks personalized health insights</a:t>
            </a:r>
          </a:p>
          <a:p>
            <a:pPr marL="627372" lvl="1" indent="-313686" algn="just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Medication reminders are easily forgotten</a:t>
            </a:r>
          </a:p>
          <a:p>
            <a:pPr marL="627372" lvl="1" indent="-313686" algn="just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No safe space to discuss sensitive health issues</a:t>
            </a:r>
          </a:p>
          <a:p>
            <a:pPr marL="627372" lvl="1" indent="-313686" algn="just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No trusted, centralized wellness platform for women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335986" y="8250848"/>
            <a:ext cx="8749754" cy="1007452"/>
            <a:chOff x="0" y="0"/>
            <a:chExt cx="11449950" cy="13183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50001" cy="1318468"/>
            </a:xfrm>
            <a:custGeom>
              <a:avLst/>
              <a:gdLst/>
              <a:ahLst/>
              <a:cxnLst/>
              <a:rect l="l" t="t" r="r" b="b"/>
              <a:pathLst>
                <a:path w="11450001" h="1318468">
                  <a:moveTo>
                    <a:pt x="0" y="205259"/>
                  </a:moveTo>
                  <a:cubicBezTo>
                    <a:pt x="0" y="91745"/>
                    <a:pt x="40651" y="0"/>
                    <a:pt x="90949" y="0"/>
                  </a:cubicBezTo>
                  <a:lnTo>
                    <a:pt x="11359057" y="0"/>
                  </a:lnTo>
                  <a:cubicBezTo>
                    <a:pt x="11409217" y="0"/>
                    <a:pt x="11450001" y="91745"/>
                    <a:pt x="11450001" y="205259"/>
                  </a:cubicBezTo>
                  <a:lnTo>
                    <a:pt x="11450001" y="1113375"/>
                  </a:lnTo>
                  <a:cubicBezTo>
                    <a:pt x="11450001" y="1226578"/>
                    <a:pt x="11409355" y="1318468"/>
                    <a:pt x="11359057" y="1318468"/>
                  </a:cubicBezTo>
                  <a:lnTo>
                    <a:pt x="90949" y="1318468"/>
                  </a:lnTo>
                  <a:cubicBezTo>
                    <a:pt x="40789" y="1318468"/>
                    <a:pt x="0" y="1226889"/>
                    <a:pt x="0" y="1113375"/>
                  </a:cubicBezTo>
                  <a:close/>
                </a:path>
              </a:pathLst>
            </a:custGeom>
            <a:solidFill>
              <a:srgbClr val="FECDE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551047" y="8348032"/>
            <a:ext cx="328282" cy="262676"/>
            <a:chOff x="0" y="0"/>
            <a:chExt cx="249238" cy="19942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249174" cy="199390"/>
            </a:xfrm>
            <a:custGeom>
              <a:avLst/>
              <a:gdLst/>
              <a:ahLst/>
              <a:cxnLst/>
              <a:rect l="l" t="t" r="r" b="b"/>
              <a:pathLst>
                <a:path w="249174" h="199390">
                  <a:moveTo>
                    <a:pt x="0" y="0"/>
                  </a:moveTo>
                  <a:lnTo>
                    <a:pt x="249174" y="0"/>
                  </a:lnTo>
                  <a:lnTo>
                    <a:pt x="249174" y="199390"/>
                  </a:lnTo>
                  <a:lnTo>
                    <a:pt x="0" y="199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l="-10" r="-35" b="-19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964739" y="8348032"/>
            <a:ext cx="8323261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The need:</a:t>
            </a:r>
            <a:r>
              <a:rPr lang="en-US" sz="219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A centralized AI-powered platform that provides complete wellness support in one place.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47150" y="2558963"/>
            <a:ext cx="7914380" cy="7294944"/>
            <a:chOff x="0" y="0"/>
            <a:chExt cx="10552506" cy="9726592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0552557" cy="9726643"/>
            </a:xfrm>
            <a:custGeom>
              <a:avLst/>
              <a:gdLst/>
              <a:ahLst/>
              <a:cxnLst/>
              <a:rect l="l" t="t" r="r" b="b"/>
              <a:pathLst>
                <a:path w="10552557" h="9726643">
                  <a:moveTo>
                    <a:pt x="0" y="0"/>
                  </a:moveTo>
                  <a:lnTo>
                    <a:pt x="10552557" y="0"/>
                  </a:lnTo>
                  <a:lnTo>
                    <a:pt x="10552557" y="9726643"/>
                  </a:lnTo>
                  <a:lnTo>
                    <a:pt x="0" y="9726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print"/>
              <a:stretch>
                <a:fillRect t="-4246" b="-424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14400" y="647700"/>
            <a:ext cx="4709755" cy="696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 b="1" dirty="0">
                <a:solidFill>
                  <a:srgbClr val="371A2D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Features of </a:t>
            </a:r>
            <a:r>
              <a:rPr lang="en-US" sz="4500" b="1" dirty="0" err="1">
                <a:solidFill>
                  <a:srgbClr val="371A2D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Saheli</a:t>
            </a:r>
            <a:endParaRPr lang="en-US" sz="4500" b="1" dirty="0">
              <a:solidFill>
                <a:srgbClr val="371A2D"/>
              </a:solidFill>
              <a:latin typeface="Source Serif Pro Bold"/>
              <a:ea typeface="Source Serif Pro Bold"/>
              <a:cs typeface="Source Serif Pro Bold"/>
              <a:sym typeface="Source Serif Pr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848778"/>
            <a:ext cx="17108091" cy="487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279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Seven intelligent modules working together to support every dimension of a woman's wellness journey.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1047150" y="2653160"/>
            <a:ext cx="685200" cy="685200"/>
          </a:xfrm>
          <a:custGeom>
            <a:avLst/>
            <a:gdLst/>
            <a:ahLst/>
            <a:cxnLst/>
            <a:rect l="l" t="t" r="r" b="b"/>
            <a:pathLst>
              <a:path w="685200" h="685200">
                <a:moveTo>
                  <a:pt x="0" y="0"/>
                </a:moveTo>
                <a:lnTo>
                  <a:pt x="685200" y="0"/>
                </a:lnTo>
                <a:lnTo>
                  <a:pt x="685200" y="685200"/>
                </a:lnTo>
                <a:lnTo>
                  <a:pt x="0" y="6852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l="-2829" r="-282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47150" y="3395510"/>
            <a:ext cx="5226844" cy="430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Mental Awareness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7150" y="3825773"/>
            <a:ext cx="5226844" cy="1300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239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AI-based emotional support, stress management, and confidence building.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6530426" y="2653160"/>
            <a:ext cx="685200" cy="685200"/>
          </a:xfrm>
          <a:custGeom>
            <a:avLst/>
            <a:gdLst/>
            <a:ahLst/>
            <a:cxnLst/>
            <a:rect l="l" t="t" r="r" b="b"/>
            <a:pathLst>
              <a:path w="685200" h="685200">
                <a:moveTo>
                  <a:pt x="0" y="0"/>
                </a:moveTo>
                <a:lnTo>
                  <a:pt x="685200" y="0"/>
                </a:lnTo>
                <a:lnTo>
                  <a:pt x="685200" y="685200"/>
                </a:lnTo>
                <a:lnTo>
                  <a:pt x="0" y="68520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t="-7547" b="-754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530426" y="3395510"/>
            <a:ext cx="5226996" cy="430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Fitness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30426" y="3825773"/>
            <a:ext cx="5226996" cy="862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239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Personalized workout plans, daily activity guidance, and habit tracking.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12013854" y="2653160"/>
            <a:ext cx="685200" cy="685200"/>
          </a:xfrm>
          <a:custGeom>
            <a:avLst/>
            <a:gdLst/>
            <a:ahLst/>
            <a:cxnLst/>
            <a:rect l="l" t="t" r="r" b="b"/>
            <a:pathLst>
              <a:path w="685200" h="685200">
                <a:moveTo>
                  <a:pt x="0" y="0"/>
                </a:moveTo>
                <a:lnTo>
                  <a:pt x="685200" y="0"/>
                </a:lnTo>
                <a:lnTo>
                  <a:pt x="685200" y="685200"/>
                </a:lnTo>
                <a:lnTo>
                  <a:pt x="0" y="685200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print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013854" y="3395510"/>
            <a:ext cx="5226996" cy="430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Period Awareness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13854" y="3825773"/>
            <a:ext cx="5624994" cy="1300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239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Cycle tracking, hormonal health education, and personalized recommendations.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028700" y="5205213"/>
            <a:ext cx="652062" cy="652062"/>
          </a:xfrm>
          <a:custGeom>
            <a:avLst/>
            <a:gdLst/>
            <a:ahLst/>
            <a:cxnLst/>
            <a:rect l="l" t="t" r="r" b="b"/>
            <a:pathLst>
              <a:path w="652062" h="652062">
                <a:moveTo>
                  <a:pt x="0" y="0"/>
                </a:moveTo>
                <a:lnTo>
                  <a:pt x="652062" y="0"/>
                </a:lnTo>
                <a:lnTo>
                  <a:pt x="652062" y="652062"/>
                </a:lnTo>
                <a:lnTo>
                  <a:pt x="0" y="652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 cstate="print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 t="-5659" b="-5659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47150" y="5914425"/>
            <a:ext cx="5226844" cy="430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Cooking &amp; Nutrition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372173"/>
            <a:ext cx="5226844" cy="862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239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Tailored recipes, meal planning, and balanced diet guidance.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6521277" y="5217319"/>
            <a:ext cx="639956" cy="639956"/>
          </a:xfrm>
          <a:custGeom>
            <a:avLst/>
            <a:gdLst/>
            <a:ahLst/>
            <a:cxnLst/>
            <a:rect l="l" t="t" r="r" b="b"/>
            <a:pathLst>
              <a:path w="639956" h="639956">
                <a:moveTo>
                  <a:pt x="0" y="0"/>
                </a:moveTo>
                <a:lnTo>
                  <a:pt x="639956" y="0"/>
                </a:lnTo>
                <a:lnTo>
                  <a:pt x="639956" y="639956"/>
                </a:lnTo>
                <a:lnTo>
                  <a:pt x="0" y="639956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print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 l="-943" r="-942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530502" y="5894561"/>
            <a:ext cx="5226996" cy="430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Creative Space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30502" y="6372173"/>
            <a:ext cx="5226996" cy="862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239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 supportive environment to share hobbies, artwork, and inspiration.</a:t>
            </a:r>
          </a:p>
        </p:txBody>
      </p:sp>
      <p:sp>
        <p:nvSpPr>
          <p:cNvPr id="21" name="Freeform 21" descr="preencoded.png"/>
          <p:cNvSpPr/>
          <p:nvPr/>
        </p:nvSpPr>
        <p:spPr>
          <a:xfrm>
            <a:off x="12013854" y="5217319"/>
            <a:ext cx="639956" cy="639956"/>
          </a:xfrm>
          <a:custGeom>
            <a:avLst/>
            <a:gdLst/>
            <a:ahLst/>
            <a:cxnLst/>
            <a:rect l="l" t="t" r="r" b="b"/>
            <a:pathLst>
              <a:path w="639956" h="639956">
                <a:moveTo>
                  <a:pt x="0" y="0"/>
                </a:moveTo>
                <a:lnTo>
                  <a:pt x="639956" y="0"/>
                </a:lnTo>
                <a:lnTo>
                  <a:pt x="639956" y="639956"/>
                </a:lnTo>
                <a:lnTo>
                  <a:pt x="0" y="639956"/>
                </a:lnTo>
                <a:lnTo>
                  <a:pt x="0" y="0"/>
                </a:lnTo>
                <a:close/>
              </a:path>
            </a:pathLst>
          </a:custGeom>
          <a:blipFill>
            <a:blip r:embed="rId14" cstate="print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 t="-11321" b="-11319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2033723" y="5894561"/>
            <a:ext cx="5810726" cy="430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SaheliX – AI Medication Tracker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33723" y="6372173"/>
            <a:ext cx="5226996" cy="862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239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Smart reminders, health guidance, and 24/7 virtual assistance.</a:t>
            </a:r>
          </a:p>
        </p:txBody>
      </p:sp>
      <p:sp>
        <p:nvSpPr>
          <p:cNvPr id="24" name="Freeform 24" descr="preencoded.png"/>
          <p:cNvSpPr/>
          <p:nvPr/>
        </p:nvSpPr>
        <p:spPr>
          <a:xfrm>
            <a:off x="1047150" y="7401963"/>
            <a:ext cx="628059" cy="628059"/>
          </a:xfrm>
          <a:custGeom>
            <a:avLst/>
            <a:gdLst/>
            <a:ahLst/>
            <a:cxnLst/>
            <a:rect l="l" t="t" r="r" b="b"/>
            <a:pathLst>
              <a:path w="628059" h="628059">
                <a:moveTo>
                  <a:pt x="0" y="0"/>
                </a:moveTo>
                <a:lnTo>
                  <a:pt x="628059" y="0"/>
                </a:lnTo>
                <a:lnTo>
                  <a:pt x="628059" y="628060"/>
                </a:lnTo>
                <a:lnTo>
                  <a:pt x="0" y="628060"/>
                </a:lnTo>
                <a:lnTo>
                  <a:pt x="0" y="0"/>
                </a:lnTo>
                <a:close/>
              </a:path>
            </a:pathLst>
          </a:custGeom>
          <a:blipFill>
            <a:blip r:embed="rId16" cstate="print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 t="-943" b="-942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47150" y="8144323"/>
            <a:ext cx="5226844" cy="430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Saheli Community Form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7150" y="8574586"/>
            <a:ext cx="5226844" cy="862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239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 safe, anonymous space to ask questions and support one another.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47150" y="813349"/>
            <a:ext cx="3783092" cy="52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3"/>
              </a:lnSpc>
            </a:pPr>
            <a:r>
              <a:rPr lang="en-US" sz="3399" b="1">
                <a:solidFill>
                  <a:srgbClr val="371A2D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Technologies Used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6762" y="1933515"/>
            <a:ext cx="1726123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Saheli is built on a modern, lightweight stack designed for speed, scalability, and a beautiful user experience — from the first click to the AI recommendation.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150" y="3803095"/>
            <a:ext cx="7914380" cy="5871324"/>
            <a:chOff x="0" y="0"/>
            <a:chExt cx="10552506" cy="7828432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0552557" cy="7828483"/>
            </a:xfrm>
            <a:custGeom>
              <a:avLst/>
              <a:gdLst/>
              <a:ahLst/>
              <a:cxnLst/>
              <a:rect l="l" t="t" r="r" b="b"/>
              <a:pathLst>
                <a:path w="10552557" h="7828483">
                  <a:moveTo>
                    <a:pt x="0" y="0"/>
                  </a:moveTo>
                  <a:lnTo>
                    <a:pt x="10552557" y="0"/>
                  </a:lnTo>
                  <a:lnTo>
                    <a:pt x="10552557" y="7828483"/>
                  </a:lnTo>
                  <a:lnTo>
                    <a:pt x="0" y="7828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t="-17399" b="-17398"/>
              </a:stretch>
            </a:blipFill>
          </p:spPr>
        </p:sp>
      </p:grpSp>
      <p:sp>
        <p:nvSpPr>
          <p:cNvPr id="8" name="Freeform 8" descr="preencoded.png"/>
          <p:cNvSpPr/>
          <p:nvPr/>
        </p:nvSpPr>
        <p:spPr>
          <a:xfrm>
            <a:off x="9198559" y="3492256"/>
            <a:ext cx="3919833" cy="811406"/>
          </a:xfrm>
          <a:custGeom>
            <a:avLst/>
            <a:gdLst/>
            <a:ahLst/>
            <a:cxnLst/>
            <a:rect l="l" t="t" r="r" b="b"/>
            <a:pathLst>
              <a:path w="3919833" h="811406">
                <a:moveTo>
                  <a:pt x="0" y="0"/>
                </a:moveTo>
                <a:lnTo>
                  <a:pt x="3919833" y="0"/>
                </a:lnTo>
                <a:lnTo>
                  <a:pt x="3919833" y="811406"/>
                </a:lnTo>
                <a:lnTo>
                  <a:pt x="0" y="811406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-419" b="-420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542707" y="3664215"/>
            <a:ext cx="3506391" cy="45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Frontend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98559" y="4932459"/>
            <a:ext cx="353758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HTML5 · CSS3 · JavaScript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3356517" y="3534469"/>
            <a:ext cx="3919833" cy="811406"/>
          </a:xfrm>
          <a:custGeom>
            <a:avLst/>
            <a:gdLst/>
            <a:ahLst/>
            <a:cxnLst/>
            <a:rect l="l" t="t" r="r" b="b"/>
            <a:pathLst>
              <a:path w="3919833" h="811406">
                <a:moveTo>
                  <a:pt x="0" y="0"/>
                </a:moveTo>
                <a:lnTo>
                  <a:pt x="3919833" y="0"/>
                </a:lnTo>
                <a:lnTo>
                  <a:pt x="3919833" y="811406"/>
                </a:lnTo>
                <a:lnTo>
                  <a:pt x="0" y="811406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-419" b="-420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769959" y="3664215"/>
            <a:ext cx="3506391" cy="45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Backend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98797" y="4932459"/>
            <a:ext cx="3583305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Python 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9198559" y="5901933"/>
            <a:ext cx="3973328" cy="822480"/>
          </a:xfrm>
          <a:custGeom>
            <a:avLst/>
            <a:gdLst/>
            <a:ahLst/>
            <a:cxnLst/>
            <a:rect l="l" t="t" r="r" b="b"/>
            <a:pathLst>
              <a:path w="3973328" h="822480">
                <a:moveTo>
                  <a:pt x="0" y="0"/>
                </a:moveTo>
                <a:lnTo>
                  <a:pt x="3973329" y="0"/>
                </a:lnTo>
                <a:lnTo>
                  <a:pt x="3973329" y="822480"/>
                </a:lnTo>
                <a:lnTo>
                  <a:pt x="0" y="822480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-419" b="-420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458396" y="6027423"/>
            <a:ext cx="340015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Chat Assistant · Recommendation Engine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13356517" y="5884959"/>
            <a:ext cx="3919833" cy="811406"/>
          </a:xfrm>
          <a:custGeom>
            <a:avLst/>
            <a:gdLst/>
            <a:ahLst/>
            <a:cxnLst/>
            <a:rect l="l" t="t" r="r" b="b"/>
            <a:pathLst>
              <a:path w="3919833" h="811406">
                <a:moveTo>
                  <a:pt x="0" y="0"/>
                </a:moveTo>
                <a:lnTo>
                  <a:pt x="3919833" y="0"/>
                </a:lnTo>
                <a:lnTo>
                  <a:pt x="3919833" y="811407"/>
                </a:lnTo>
                <a:lnTo>
                  <a:pt x="0" y="811407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-419" b="-420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769959" y="6175562"/>
            <a:ext cx="3506391" cy="39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UI Design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98797" y="8452542"/>
            <a:ext cx="3506391" cy="17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Responsive · Glassmorphism · Mobile-Friendly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47150" y="803824"/>
            <a:ext cx="3196590" cy="66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299" b="1">
                <a:solidFill>
                  <a:srgbClr val="371A2D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Data Storage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377222"/>
            <a:ext cx="7914380" cy="1706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8"/>
              </a:lnSpc>
            </a:pPr>
            <a:r>
              <a:rPr lang="en-US" sz="3099">
                <a:solidFill>
                  <a:srgbClr val="371A2D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Current Implementation </a:t>
            </a:r>
          </a:p>
          <a:p>
            <a:pPr algn="l">
              <a:lnSpc>
                <a:spcPts val="3244"/>
              </a:lnSpc>
            </a:pPr>
            <a:r>
              <a:rPr lang="en-US" sz="2599">
                <a:solidFill>
                  <a:srgbClr val="371A2D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Stage 1- Browser Local Stage</a:t>
            </a:r>
          </a:p>
          <a:p>
            <a:pPr algn="l">
              <a:lnSpc>
                <a:spcPts val="3244"/>
              </a:lnSpc>
            </a:pPr>
            <a:r>
              <a:rPr lang="en-US" sz="2599">
                <a:solidFill>
                  <a:srgbClr val="371A2D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→Fast ,client-side, no external database</a:t>
            </a:r>
          </a:p>
          <a:p>
            <a:pPr algn="l">
              <a:lnSpc>
                <a:spcPts val="3244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028700" y="4584164"/>
            <a:ext cx="7914380" cy="28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599">
                <a:solidFill>
                  <a:srgbClr val="371A2D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Future Upgrade Path</a:t>
            </a:r>
          </a:p>
          <a:p>
            <a:pPr algn="l">
              <a:lnSpc>
                <a:spcPts val="3244"/>
              </a:lnSpc>
            </a:pPr>
            <a:r>
              <a:rPr lang="en-US" sz="2599">
                <a:solidFill>
                  <a:srgbClr val="371A2D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Stage-2</a:t>
            </a:r>
          </a:p>
          <a:p>
            <a:pPr marL="561334" lvl="1" indent="-280667" algn="l">
              <a:lnSpc>
                <a:spcPts val="3244"/>
              </a:lnSpc>
              <a:buFont typeface="Arial"/>
              <a:buChar char="•"/>
            </a:pPr>
            <a:r>
              <a:rPr lang="en-US" sz="2599">
                <a:solidFill>
                  <a:srgbClr val="371A2D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MySQL &amp; PostgreSQL for structured data</a:t>
            </a:r>
          </a:p>
          <a:p>
            <a:pPr marL="561334" lvl="1" indent="-280667" algn="l">
              <a:lnSpc>
                <a:spcPts val="3244"/>
              </a:lnSpc>
              <a:buFont typeface="Arial"/>
              <a:buChar char="•"/>
            </a:pPr>
            <a:r>
              <a:rPr lang="en-US" sz="2599">
                <a:solidFill>
                  <a:srgbClr val="371A2D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MongoDB for flexible document storage</a:t>
            </a:r>
          </a:p>
          <a:p>
            <a:pPr marL="561334" lvl="1" indent="-280667" algn="l">
              <a:lnSpc>
                <a:spcPts val="3244"/>
              </a:lnSpc>
              <a:buFont typeface="Arial"/>
              <a:buChar char="•"/>
            </a:pPr>
            <a:r>
              <a:rPr lang="en-US" sz="2599">
                <a:solidFill>
                  <a:srgbClr val="371A2D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Firebase for real-time sync</a:t>
            </a:r>
          </a:p>
          <a:p>
            <a:pPr marL="561334" lvl="1" indent="-280667" algn="l">
              <a:lnSpc>
                <a:spcPts val="3244"/>
              </a:lnSpc>
              <a:buFont typeface="Arial"/>
              <a:buChar char="•"/>
            </a:pPr>
            <a:r>
              <a:rPr lang="en-US" sz="2599">
                <a:solidFill>
                  <a:srgbClr val="371A2D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Cloud storage for scalability</a:t>
            </a:r>
          </a:p>
          <a:p>
            <a:pPr algn="l">
              <a:lnSpc>
                <a:spcPts val="3244"/>
              </a:lnSpc>
            </a:pPr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9550487" y="457959"/>
            <a:ext cx="7914380" cy="7914380"/>
            <a:chOff x="0" y="0"/>
            <a:chExt cx="10552506" cy="10552506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552557" cy="10552557"/>
            </a:xfrm>
            <a:custGeom>
              <a:avLst/>
              <a:gdLst/>
              <a:ahLst/>
              <a:cxnLst/>
              <a:rect l="l" t="t" r="r" b="b"/>
              <a:pathLst>
                <a:path w="10552557" h="10552557">
                  <a:moveTo>
                    <a:pt x="0" y="0"/>
                  </a:moveTo>
                  <a:lnTo>
                    <a:pt x="10552557" y="0"/>
                  </a:lnTo>
                  <a:lnTo>
                    <a:pt x="10552557" y="10552557"/>
                  </a:lnTo>
                  <a:lnTo>
                    <a:pt x="0" y="10552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28700" y="8650494"/>
            <a:ext cx="17010874" cy="1470396"/>
            <a:chOff x="0" y="0"/>
            <a:chExt cx="21604288" cy="18674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04351" cy="1867482"/>
            </a:xfrm>
            <a:custGeom>
              <a:avLst/>
              <a:gdLst/>
              <a:ahLst/>
              <a:cxnLst/>
              <a:rect l="l" t="t" r="r" b="b"/>
              <a:pathLst>
                <a:path w="21604351" h="1867482">
                  <a:moveTo>
                    <a:pt x="0" y="153917"/>
                  </a:moveTo>
                  <a:cubicBezTo>
                    <a:pt x="0" y="68894"/>
                    <a:pt x="37973" y="0"/>
                    <a:pt x="84836" y="0"/>
                  </a:cubicBezTo>
                  <a:lnTo>
                    <a:pt x="21519514" y="0"/>
                  </a:lnTo>
                  <a:cubicBezTo>
                    <a:pt x="21566378" y="0"/>
                    <a:pt x="21604351" y="68894"/>
                    <a:pt x="21604351" y="153917"/>
                  </a:cubicBezTo>
                  <a:lnTo>
                    <a:pt x="21604351" y="1713596"/>
                  </a:lnTo>
                  <a:cubicBezTo>
                    <a:pt x="21604351" y="1798619"/>
                    <a:pt x="21566378" y="1867482"/>
                    <a:pt x="21519514" y="1867482"/>
                  </a:cubicBezTo>
                  <a:lnTo>
                    <a:pt x="84836" y="1867482"/>
                  </a:lnTo>
                  <a:cubicBezTo>
                    <a:pt x="37973" y="1867482"/>
                    <a:pt x="0" y="1798619"/>
                    <a:pt x="0" y="1713596"/>
                  </a:cubicBezTo>
                  <a:close/>
                </a:path>
              </a:pathLst>
            </a:custGeom>
            <a:solidFill>
              <a:srgbClr val="FECDEC"/>
            </a:solidFill>
            <a:ln w="9526" cap="sq">
              <a:solidFill>
                <a:srgbClr val="E4B3D2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356417" y="8886688"/>
            <a:ext cx="15880853" cy="44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0"/>
              </a:lnSpc>
            </a:pPr>
            <a:r>
              <a:rPr lang="en-US" sz="2900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Browser Local Storage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6417" y="9510377"/>
            <a:ext cx="1634073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Fast, lightweight, and secure client-side storage — ideal for prototype deployment with zero external dependencies.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600" y="419100"/>
            <a:ext cx="5639276" cy="742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 b="1" dirty="0">
                <a:solidFill>
                  <a:srgbClr val="371A2D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System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7150" y="1962302"/>
            <a:ext cx="17108091" cy="1021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7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From user interaction to personalized insight — Saheli's architecture is clean, modular, and AI-driven at every layer.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847527" y="3300555"/>
            <a:ext cx="12592945" cy="5763368"/>
            <a:chOff x="0" y="0"/>
            <a:chExt cx="16790594" cy="7684491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6790543" cy="7684516"/>
            </a:xfrm>
            <a:custGeom>
              <a:avLst/>
              <a:gdLst/>
              <a:ahLst/>
              <a:cxnLst/>
              <a:rect l="l" t="t" r="r" b="b"/>
              <a:pathLst>
                <a:path w="16790543" h="7684516">
                  <a:moveTo>
                    <a:pt x="0" y="0"/>
                  </a:moveTo>
                  <a:lnTo>
                    <a:pt x="16790543" y="0"/>
                  </a:lnTo>
                  <a:lnTo>
                    <a:pt x="16790543" y="7684516"/>
                  </a:lnTo>
                  <a:lnTo>
                    <a:pt x="0" y="7684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t="-41" b="-4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2525426" y="7496537"/>
            <a:ext cx="2138720" cy="412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Local Storage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23345" y="7496537"/>
            <a:ext cx="2173367" cy="412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AI Processing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43157" y="7496537"/>
            <a:ext cx="2364229" cy="412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Flask Backend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75887" y="7496537"/>
            <a:ext cx="2364229" cy="412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User Frontend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7150" y="8605237"/>
            <a:ext cx="16193691" cy="1021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7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Each module operates independently yet feeds into a unified AI recommendation engine, ensuring every woman receives cohesive, personalized wellness guidance across all dimensions of her health.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468691" y="65708"/>
            <a:ext cx="6858000" cy="10290724"/>
            <a:chOff x="0" y="0"/>
            <a:chExt cx="9144000" cy="13720966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9144000" cy="13720953"/>
            </a:xfrm>
            <a:custGeom>
              <a:avLst/>
              <a:gdLst/>
              <a:ahLst/>
              <a:cxnLst/>
              <a:rect l="l" t="t" r="r" b="b"/>
              <a:pathLst>
                <a:path w="9144000" h="13720953">
                  <a:moveTo>
                    <a:pt x="0" y="0"/>
                  </a:moveTo>
                  <a:lnTo>
                    <a:pt x="9144000" y="0"/>
                  </a:lnTo>
                  <a:lnTo>
                    <a:pt x="9144000" y="13720953"/>
                  </a:lnTo>
                  <a:lnTo>
                    <a:pt x="0" y="1372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t="-28" b="-2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66800" y="495300"/>
            <a:ext cx="5999798" cy="714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600" b="1" dirty="0">
                <a:solidFill>
                  <a:srgbClr val="371A2D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Future Enhancements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150" y="1818380"/>
            <a:ext cx="9335691" cy="87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399" dirty="0" err="1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Saheli's</a:t>
            </a:r>
            <a:r>
              <a:rPr lang="en-US" sz="2399" dirty="0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roadmap is built to scale — from a powerful web prototype to a full-featured, AI-native women's health platform.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31119" y="2869111"/>
            <a:ext cx="28575" cy="6598739"/>
            <a:chOff x="0" y="0"/>
            <a:chExt cx="38100" cy="87983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100" cy="8798306"/>
            </a:xfrm>
            <a:custGeom>
              <a:avLst/>
              <a:gdLst/>
              <a:ahLst/>
              <a:cxnLst/>
              <a:rect l="l" t="t" r="r" b="b"/>
              <a:pathLst>
                <a:path w="38100" h="879830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8779256"/>
                  </a:lnTo>
                  <a:cubicBezTo>
                    <a:pt x="38100" y="8789798"/>
                    <a:pt x="29591" y="8798306"/>
                    <a:pt x="19050" y="8798306"/>
                  </a:cubicBezTo>
                  <a:cubicBezTo>
                    <a:pt x="8509" y="8798306"/>
                    <a:pt x="0" y="8789798"/>
                    <a:pt x="0" y="8779256"/>
                  </a:cubicBezTo>
                  <a:close/>
                </a:path>
              </a:pathLst>
            </a:custGeom>
            <a:solidFill>
              <a:srgbClr val="E4B3D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586513" y="3138783"/>
            <a:ext cx="757390" cy="28575"/>
            <a:chOff x="0" y="0"/>
            <a:chExt cx="1009853" cy="38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9904" cy="38100"/>
            </a:xfrm>
            <a:custGeom>
              <a:avLst/>
              <a:gdLst/>
              <a:ahLst/>
              <a:cxnLst/>
              <a:rect l="l" t="t" r="r" b="b"/>
              <a:pathLst>
                <a:path w="100990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90854" y="0"/>
                  </a:lnTo>
                  <a:cubicBezTo>
                    <a:pt x="1001395" y="0"/>
                    <a:pt x="1009904" y="8509"/>
                    <a:pt x="1009904" y="19050"/>
                  </a:cubicBezTo>
                  <a:cubicBezTo>
                    <a:pt x="1009904" y="29591"/>
                    <a:pt x="1001268" y="38100"/>
                    <a:pt x="99085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E4B3D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42387" y="2864348"/>
            <a:ext cx="577453" cy="577453"/>
            <a:chOff x="0" y="0"/>
            <a:chExt cx="769938" cy="7699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70001" cy="770001"/>
            </a:xfrm>
            <a:custGeom>
              <a:avLst/>
              <a:gdLst/>
              <a:ahLst/>
              <a:cxnLst/>
              <a:rect l="l" t="t" r="r" b="b"/>
              <a:pathLst>
                <a:path w="770001" h="770001">
                  <a:moveTo>
                    <a:pt x="0" y="143764"/>
                  </a:moveTo>
                  <a:cubicBezTo>
                    <a:pt x="0" y="64389"/>
                    <a:pt x="64389" y="0"/>
                    <a:pt x="143764" y="0"/>
                  </a:cubicBezTo>
                  <a:lnTo>
                    <a:pt x="626237" y="0"/>
                  </a:lnTo>
                  <a:cubicBezTo>
                    <a:pt x="705612" y="0"/>
                    <a:pt x="770001" y="64389"/>
                    <a:pt x="770001" y="143764"/>
                  </a:cubicBezTo>
                  <a:lnTo>
                    <a:pt x="770001" y="626237"/>
                  </a:lnTo>
                  <a:cubicBezTo>
                    <a:pt x="770001" y="705612"/>
                    <a:pt x="705612" y="770001"/>
                    <a:pt x="626237" y="770001"/>
                  </a:cubicBezTo>
                  <a:lnTo>
                    <a:pt x="143764" y="770001"/>
                  </a:lnTo>
                  <a:cubicBezTo>
                    <a:pt x="64389" y="770001"/>
                    <a:pt x="0" y="705612"/>
                    <a:pt x="0" y="626237"/>
                  </a:cubicBezTo>
                  <a:close/>
                </a:path>
              </a:pathLst>
            </a:custGeom>
            <a:solidFill>
              <a:srgbClr val="FECDEC"/>
            </a:solidFill>
            <a:ln w="9526" cap="sq">
              <a:solidFill>
                <a:srgbClr val="E4B3D2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152973" y="2930357"/>
            <a:ext cx="356292" cy="445446"/>
            <a:chOff x="0" y="0"/>
            <a:chExt cx="475056" cy="5939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5059" cy="593923"/>
            </a:xfrm>
            <a:custGeom>
              <a:avLst/>
              <a:gdLst/>
              <a:ahLst/>
              <a:cxnLst/>
              <a:rect l="l" t="t" r="r" b="b"/>
              <a:pathLst>
                <a:path w="475059" h="593923">
                  <a:moveTo>
                    <a:pt x="0" y="0"/>
                  </a:moveTo>
                  <a:lnTo>
                    <a:pt x="475059" y="0"/>
                  </a:lnTo>
                  <a:lnTo>
                    <a:pt x="475059" y="593923"/>
                  </a:lnTo>
                  <a:lnTo>
                    <a:pt x="0" y="593923"/>
                  </a:lnTo>
                  <a:close/>
                </a:path>
              </a:pathLst>
            </a:custGeom>
            <a:blipFill>
              <a:blip r:embed="rId5" cstate="print">
                <a:alphaModFix amt="0"/>
              </a:blip>
              <a:stretch>
                <a:fillRect l="-110408" r="-110407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475056" cy="5844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432338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1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593477" y="2946349"/>
            <a:ext cx="2405301" cy="35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Phase 1 — Launch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93477" y="3397748"/>
            <a:ext cx="7789364" cy="799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1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Cloud database integration, mobile app (Android &amp; iOS), multilingual support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586513" y="4894955"/>
            <a:ext cx="757390" cy="28575"/>
            <a:chOff x="0" y="0"/>
            <a:chExt cx="1009853" cy="38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9904" cy="38100"/>
            </a:xfrm>
            <a:custGeom>
              <a:avLst/>
              <a:gdLst/>
              <a:ahLst/>
              <a:cxnLst/>
              <a:rect l="l" t="t" r="r" b="b"/>
              <a:pathLst>
                <a:path w="100990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90854" y="0"/>
                  </a:lnTo>
                  <a:cubicBezTo>
                    <a:pt x="1001395" y="0"/>
                    <a:pt x="1009904" y="8509"/>
                    <a:pt x="1009904" y="19050"/>
                  </a:cubicBezTo>
                  <a:cubicBezTo>
                    <a:pt x="1009904" y="29591"/>
                    <a:pt x="1001268" y="38100"/>
                    <a:pt x="99085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E4B3D2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042387" y="4620520"/>
            <a:ext cx="577453" cy="577453"/>
            <a:chOff x="0" y="0"/>
            <a:chExt cx="769938" cy="76993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70001" cy="770001"/>
            </a:xfrm>
            <a:custGeom>
              <a:avLst/>
              <a:gdLst/>
              <a:ahLst/>
              <a:cxnLst/>
              <a:rect l="l" t="t" r="r" b="b"/>
              <a:pathLst>
                <a:path w="770001" h="770001">
                  <a:moveTo>
                    <a:pt x="0" y="143764"/>
                  </a:moveTo>
                  <a:cubicBezTo>
                    <a:pt x="0" y="64389"/>
                    <a:pt x="64389" y="0"/>
                    <a:pt x="143764" y="0"/>
                  </a:cubicBezTo>
                  <a:lnTo>
                    <a:pt x="626237" y="0"/>
                  </a:lnTo>
                  <a:cubicBezTo>
                    <a:pt x="705612" y="0"/>
                    <a:pt x="770001" y="64389"/>
                    <a:pt x="770001" y="143764"/>
                  </a:cubicBezTo>
                  <a:lnTo>
                    <a:pt x="770001" y="626237"/>
                  </a:lnTo>
                  <a:cubicBezTo>
                    <a:pt x="770001" y="705612"/>
                    <a:pt x="705612" y="770001"/>
                    <a:pt x="626237" y="770001"/>
                  </a:cubicBezTo>
                  <a:lnTo>
                    <a:pt x="143764" y="770001"/>
                  </a:lnTo>
                  <a:cubicBezTo>
                    <a:pt x="64389" y="770001"/>
                    <a:pt x="0" y="705612"/>
                    <a:pt x="0" y="626237"/>
                  </a:cubicBezTo>
                  <a:close/>
                </a:path>
              </a:pathLst>
            </a:custGeom>
            <a:solidFill>
              <a:srgbClr val="FECDEC"/>
            </a:solidFill>
            <a:ln w="9526" cap="sq">
              <a:solidFill>
                <a:srgbClr val="E4B3D2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152973" y="4686529"/>
            <a:ext cx="356292" cy="445446"/>
            <a:chOff x="0" y="0"/>
            <a:chExt cx="475056" cy="5939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75059" cy="593923"/>
            </a:xfrm>
            <a:custGeom>
              <a:avLst/>
              <a:gdLst/>
              <a:ahLst/>
              <a:cxnLst/>
              <a:rect l="l" t="t" r="r" b="b"/>
              <a:pathLst>
                <a:path w="475059" h="593923">
                  <a:moveTo>
                    <a:pt x="0" y="0"/>
                  </a:moveTo>
                  <a:lnTo>
                    <a:pt x="475059" y="0"/>
                  </a:lnTo>
                  <a:lnTo>
                    <a:pt x="475059" y="593923"/>
                  </a:lnTo>
                  <a:lnTo>
                    <a:pt x="0" y="593923"/>
                  </a:lnTo>
                  <a:close/>
                </a:path>
              </a:pathLst>
            </a:custGeom>
            <a:blipFill>
              <a:blip r:embed="rId5" cstate="print">
                <a:alphaModFix amt="0"/>
              </a:blip>
              <a:stretch>
                <a:fillRect l="-110408" r="-11040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475056" cy="5844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432338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2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593477" y="4702521"/>
            <a:ext cx="3010733" cy="35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Phase 2 — Intelligence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93477" y="5153920"/>
            <a:ext cx="7789364" cy="799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1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AI health prediction, ML-based insights, voice-enabled assistant, personalized health reports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586513" y="6651127"/>
            <a:ext cx="757390" cy="28575"/>
            <a:chOff x="0" y="0"/>
            <a:chExt cx="1009853" cy="381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09904" cy="38100"/>
            </a:xfrm>
            <a:custGeom>
              <a:avLst/>
              <a:gdLst/>
              <a:ahLst/>
              <a:cxnLst/>
              <a:rect l="l" t="t" r="r" b="b"/>
              <a:pathLst>
                <a:path w="100990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90854" y="0"/>
                  </a:lnTo>
                  <a:cubicBezTo>
                    <a:pt x="1001395" y="0"/>
                    <a:pt x="1009904" y="8509"/>
                    <a:pt x="1009904" y="19050"/>
                  </a:cubicBezTo>
                  <a:cubicBezTo>
                    <a:pt x="1009904" y="29591"/>
                    <a:pt x="1001268" y="38100"/>
                    <a:pt x="99085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E4B3D2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042387" y="6376692"/>
            <a:ext cx="577453" cy="577453"/>
            <a:chOff x="0" y="0"/>
            <a:chExt cx="769938" cy="7699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70001" cy="770001"/>
            </a:xfrm>
            <a:custGeom>
              <a:avLst/>
              <a:gdLst/>
              <a:ahLst/>
              <a:cxnLst/>
              <a:rect l="l" t="t" r="r" b="b"/>
              <a:pathLst>
                <a:path w="770001" h="770001">
                  <a:moveTo>
                    <a:pt x="0" y="143764"/>
                  </a:moveTo>
                  <a:cubicBezTo>
                    <a:pt x="0" y="64389"/>
                    <a:pt x="64389" y="0"/>
                    <a:pt x="143764" y="0"/>
                  </a:cubicBezTo>
                  <a:lnTo>
                    <a:pt x="626237" y="0"/>
                  </a:lnTo>
                  <a:cubicBezTo>
                    <a:pt x="705612" y="0"/>
                    <a:pt x="770001" y="64389"/>
                    <a:pt x="770001" y="143764"/>
                  </a:cubicBezTo>
                  <a:lnTo>
                    <a:pt x="770001" y="626237"/>
                  </a:lnTo>
                  <a:cubicBezTo>
                    <a:pt x="770001" y="705612"/>
                    <a:pt x="705612" y="770001"/>
                    <a:pt x="626237" y="770001"/>
                  </a:cubicBezTo>
                  <a:lnTo>
                    <a:pt x="143764" y="770001"/>
                  </a:lnTo>
                  <a:cubicBezTo>
                    <a:pt x="64389" y="770001"/>
                    <a:pt x="0" y="705612"/>
                    <a:pt x="0" y="626237"/>
                  </a:cubicBezTo>
                  <a:close/>
                </a:path>
              </a:pathLst>
            </a:custGeom>
            <a:solidFill>
              <a:srgbClr val="FECDEC"/>
            </a:solidFill>
            <a:ln w="9526" cap="sq">
              <a:solidFill>
                <a:srgbClr val="E4B3D2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152973" y="6442700"/>
            <a:ext cx="356292" cy="445446"/>
            <a:chOff x="0" y="0"/>
            <a:chExt cx="475056" cy="59392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5059" cy="593923"/>
            </a:xfrm>
            <a:custGeom>
              <a:avLst/>
              <a:gdLst/>
              <a:ahLst/>
              <a:cxnLst/>
              <a:rect l="l" t="t" r="r" b="b"/>
              <a:pathLst>
                <a:path w="475059" h="593923">
                  <a:moveTo>
                    <a:pt x="0" y="0"/>
                  </a:moveTo>
                  <a:lnTo>
                    <a:pt x="475059" y="0"/>
                  </a:lnTo>
                  <a:lnTo>
                    <a:pt x="475059" y="593923"/>
                  </a:lnTo>
                  <a:lnTo>
                    <a:pt x="0" y="593923"/>
                  </a:lnTo>
                  <a:close/>
                </a:path>
              </a:pathLst>
            </a:custGeom>
            <a:blipFill>
              <a:blip r:embed="rId5" cstate="print">
                <a:alphaModFix amt="0"/>
              </a:blip>
              <a:stretch>
                <a:fillRect l="-110408" r="-11040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9525"/>
              <a:ext cx="475056" cy="5844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432338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3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593477" y="6458693"/>
            <a:ext cx="2017157" cy="35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Phase 3 — Care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593477" y="6910092"/>
            <a:ext cx="7789364" cy="799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1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Doctor appointment booking, video consultation, pregnancy &amp; maternal care module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586513" y="8407298"/>
            <a:ext cx="757390" cy="28575"/>
            <a:chOff x="0" y="0"/>
            <a:chExt cx="1009853" cy="381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09904" cy="38100"/>
            </a:xfrm>
            <a:custGeom>
              <a:avLst/>
              <a:gdLst/>
              <a:ahLst/>
              <a:cxnLst/>
              <a:rect l="l" t="t" r="r" b="b"/>
              <a:pathLst>
                <a:path w="100990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90854" y="0"/>
                  </a:lnTo>
                  <a:cubicBezTo>
                    <a:pt x="1001395" y="0"/>
                    <a:pt x="1009904" y="8509"/>
                    <a:pt x="1009904" y="19050"/>
                  </a:cubicBezTo>
                  <a:cubicBezTo>
                    <a:pt x="1009904" y="29591"/>
                    <a:pt x="1001268" y="38100"/>
                    <a:pt x="99085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E4B3D2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042387" y="8132864"/>
            <a:ext cx="577453" cy="577453"/>
            <a:chOff x="0" y="0"/>
            <a:chExt cx="769938" cy="76993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70001" cy="770001"/>
            </a:xfrm>
            <a:custGeom>
              <a:avLst/>
              <a:gdLst/>
              <a:ahLst/>
              <a:cxnLst/>
              <a:rect l="l" t="t" r="r" b="b"/>
              <a:pathLst>
                <a:path w="770001" h="770001">
                  <a:moveTo>
                    <a:pt x="0" y="143764"/>
                  </a:moveTo>
                  <a:cubicBezTo>
                    <a:pt x="0" y="64389"/>
                    <a:pt x="64389" y="0"/>
                    <a:pt x="143764" y="0"/>
                  </a:cubicBezTo>
                  <a:lnTo>
                    <a:pt x="626237" y="0"/>
                  </a:lnTo>
                  <a:cubicBezTo>
                    <a:pt x="705612" y="0"/>
                    <a:pt x="770001" y="64389"/>
                    <a:pt x="770001" y="143764"/>
                  </a:cubicBezTo>
                  <a:lnTo>
                    <a:pt x="770001" y="626237"/>
                  </a:lnTo>
                  <a:cubicBezTo>
                    <a:pt x="770001" y="705612"/>
                    <a:pt x="705612" y="770001"/>
                    <a:pt x="626237" y="770001"/>
                  </a:cubicBezTo>
                  <a:lnTo>
                    <a:pt x="143764" y="770001"/>
                  </a:lnTo>
                  <a:cubicBezTo>
                    <a:pt x="64389" y="770001"/>
                    <a:pt x="0" y="705612"/>
                    <a:pt x="0" y="626237"/>
                  </a:cubicBezTo>
                  <a:close/>
                </a:path>
              </a:pathLst>
            </a:custGeom>
            <a:solidFill>
              <a:srgbClr val="FECDEC"/>
            </a:solidFill>
            <a:ln w="9526" cap="sq">
              <a:solidFill>
                <a:srgbClr val="E4B3D2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152973" y="8198863"/>
            <a:ext cx="356292" cy="445446"/>
            <a:chOff x="0" y="0"/>
            <a:chExt cx="475056" cy="59392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75059" cy="593923"/>
            </a:xfrm>
            <a:custGeom>
              <a:avLst/>
              <a:gdLst/>
              <a:ahLst/>
              <a:cxnLst/>
              <a:rect l="l" t="t" r="r" b="b"/>
              <a:pathLst>
                <a:path w="475059" h="593923">
                  <a:moveTo>
                    <a:pt x="0" y="0"/>
                  </a:moveTo>
                  <a:lnTo>
                    <a:pt x="475059" y="0"/>
                  </a:lnTo>
                  <a:lnTo>
                    <a:pt x="475059" y="593923"/>
                  </a:lnTo>
                  <a:lnTo>
                    <a:pt x="0" y="593923"/>
                  </a:lnTo>
                  <a:close/>
                </a:path>
              </a:pathLst>
            </a:custGeom>
            <a:blipFill>
              <a:blip r:embed="rId5" cstate="print">
                <a:alphaModFix amt="0"/>
              </a:blip>
              <a:stretch>
                <a:fillRect l="-110408" r="-11040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9525"/>
              <a:ext cx="475056" cy="5844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432338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4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2593477" y="8214865"/>
            <a:ext cx="2831663" cy="35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Phase 4 — Ecosystem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593477" y="8666264"/>
            <a:ext cx="7789364" cy="799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1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Wearable device integration, emergency SOS support, enterprise partnerships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6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140" y="2072822"/>
            <a:ext cx="7708821" cy="3666947"/>
            <a:chOff x="0" y="0"/>
            <a:chExt cx="10278428" cy="48892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278479" cy="4889313"/>
            </a:xfrm>
            <a:custGeom>
              <a:avLst/>
              <a:gdLst/>
              <a:ahLst/>
              <a:cxnLst/>
              <a:rect l="l" t="t" r="r" b="b"/>
              <a:pathLst>
                <a:path w="10278479" h="4889313">
                  <a:moveTo>
                    <a:pt x="0" y="0"/>
                  </a:moveTo>
                  <a:lnTo>
                    <a:pt x="10278479" y="0"/>
                  </a:lnTo>
                  <a:lnTo>
                    <a:pt x="10278479" y="4889313"/>
                  </a:lnTo>
                  <a:lnTo>
                    <a:pt x="0" y="4889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t="-9125" b="-912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515097" y="2032892"/>
            <a:ext cx="7297940" cy="3706876"/>
            <a:chOff x="0" y="0"/>
            <a:chExt cx="9730587" cy="49425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730527" cy="4942471"/>
            </a:xfrm>
            <a:custGeom>
              <a:avLst/>
              <a:gdLst/>
              <a:ahLst/>
              <a:cxnLst/>
              <a:rect l="l" t="t" r="r" b="b"/>
              <a:pathLst>
                <a:path w="9730527" h="4942471">
                  <a:moveTo>
                    <a:pt x="0" y="0"/>
                  </a:moveTo>
                  <a:lnTo>
                    <a:pt x="9730527" y="0"/>
                  </a:lnTo>
                  <a:lnTo>
                    <a:pt x="9730527" y="4942471"/>
                  </a:lnTo>
                  <a:lnTo>
                    <a:pt x="0" y="4942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print"/>
              <a:stretch>
                <a:fillRect l="-3518" r="-351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77732" y="6063619"/>
            <a:ext cx="7697229" cy="3855880"/>
            <a:chOff x="0" y="0"/>
            <a:chExt cx="10262972" cy="51411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62908" cy="5141142"/>
            </a:xfrm>
            <a:custGeom>
              <a:avLst/>
              <a:gdLst/>
              <a:ahLst/>
              <a:cxnLst/>
              <a:rect l="l" t="t" r="r" b="b"/>
              <a:pathLst>
                <a:path w="10262908" h="5141142">
                  <a:moveTo>
                    <a:pt x="0" y="0"/>
                  </a:moveTo>
                  <a:lnTo>
                    <a:pt x="10262908" y="0"/>
                  </a:lnTo>
                  <a:lnTo>
                    <a:pt x="10262908" y="5141142"/>
                  </a:lnTo>
                  <a:lnTo>
                    <a:pt x="0" y="5141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 cstate="print"/>
              <a:stretch>
                <a:fillRect t="-6144" b="-614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644506" y="6063619"/>
            <a:ext cx="7168531" cy="3855880"/>
            <a:chOff x="0" y="0"/>
            <a:chExt cx="9558042" cy="514117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58093" cy="5141224"/>
            </a:xfrm>
            <a:custGeom>
              <a:avLst/>
              <a:gdLst/>
              <a:ahLst/>
              <a:cxnLst/>
              <a:rect l="l" t="t" r="r" b="b"/>
              <a:pathLst>
                <a:path w="9558093" h="5141224">
                  <a:moveTo>
                    <a:pt x="0" y="0"/>
                  </a:moveTo>
                  <a:lnTo>
                    <a:pt x="9558093" y="0"/>
                  </a:lnTo>
                  <a:lnTo>
                    <a:pt x="9558093" y="5141224"/>
                  </a:lnTo>
                  <a:lnTo>
                    <a:pt x="0" y="5141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 cstate="print"/>
              <a:stretch>
                <a:fillRect l="-5896" r="-5896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533400" y="0"/>
            <a:ext cx="4533662" cy="714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600" b="1" dirty="0">
                <a:solidFill>
                  <a:srgbClr val="371A2D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Website Preview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9878" y="1268607"/>
            <a:ext cx="17108091" cy="586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3"/>
              </a:lnSpc>
            </a:pPr>
            <a:r>
              <a:rPr lang="en-US" sz="3199" b="1" i="1">
                <a:solidFill>
                  <a:srgbClr val="432338"/>
                </a:solidFill>
                <a:latin typeface="Source Serif Pro Bold Italics"/>
                <a:ea typeface="Source Serif Pro Bold Italics"/>
                <a:cs typeface="Source Serif Pro Bold Italics"/>
                <a:sym typeface="Source Serif Pro Bold Italics"/>
              </a:rPr>
              <a:t>A glimpse into the Saheli experience — clean, intuitive, and designed for every woman.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36883" y="2524873"/>
            <a:ext cx="5779753" cy="3073298"/>
            <a:chOff x="0" y="0"/>
            <a:chExt cx="7706337" cy="40977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06388" cy="4097782"/>
            </a:xfrm>
            <a:custGeom>
              <a:avLst/>
              <a:gdLst/>
              <a:ahLst/>
              <a:cxnLst/>
              <a:rect l="l" t="t" r="r" b="b"/>
              <a:pathLst>
                <a:path w="7706388" h="4097782">
                  <a:moveTo>
                    <a:pt x="0" y="0"/>
                  </a:moveTo>
                  <a:lnTo>
                    <a:pt x="7706388" y="0"/>
                  </a:lnTo>
                  <a:lnTo>
                    <a:pt x="7706388" y="4097782"/>
                  </a:lnTo>
                  <a:lnTo>
                    <a:pt x="0" y="4097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l="-5389" r="-538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36883" y="6034070"/>
            <a:ext cx="7468575" cy="4085117"/>
            <a:chOff x="0" y="0"/>
            <a:chExt cx="9549029" cy="52230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49080" cy="5223123"/>
            </a:xfrm>
            <a:custGeom>
              <a:avLst/>
              <a:gdLst/>
              <a:ahLst/>
              <a:cxnLst/>
              <a:rect l="l" t="t" r="r" b="b"/>
              <a:pathLst>
                <a:path w="9549080" h="5223123">
                  <a:moveTo>
                    <a:pt x="0" y="0"/>
                  </a:moveTo>
                  <a:lnTo>
                    <a:pt x="9549080" y="0"/>
                  </a:lnTo>
                  <a:lnTo>
                    <a:pt x="9549080" y="5223123"/>
                  </a:lnTo>
                  <a:lnTo>
                    <a:pt x="0" y="5223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print"/>
              <a:stretch>
                <a:fillRect l="-7535" r="-753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424494" y="2524720"/>
            <a:ext cx="6046334" cy="3073451"/>
            <a:chOff x="0" y="0"/>
            <a:chExt cx="8061778" cy="40979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61729" cy="4097909"/>
            </a:xfrm>
            <a:custGeom>
              <a:avLst/>
              <a:gdLst/>
              <a:ahLst/>
              <a:cxnLst/>
              <a:rect l="l" t="t" r="r" b="b"/>
              <a:pathLst>
                <a:path w="8061729" h="4097909">
                  <a:moveTo>
                    <a:pt x="0" y="0"/>
                  </a:moveTo>
                  <a:lnTo>
                    <a:pt x="8061729" y="0"/>
                  </a:lnTo>
                  <a:lnTo>
                    <a:pt x="8061729" y="4097909"/>
                  </a:lnTo>
                  <a:lnTo>
                    <a:pt x="0" y="4097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 cstate="print"/>
              <a:stretch>
                <a:fillRect t="-5262" b="-526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621225" y="2524720"/>
            <a:ext cx="5509314" cy="3073451"/>
            <a:chOff x="0" y="0"/>
            <a:chExt cx="7345751" cy="40979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45706" cy="4097909"/>
            </a:xfrm>
            <a:custGeom>
              <a:avLst/>
              <a:gdLst/>
              <a:ahLst/>
              <a:cxnLst/>
              <a:rect l="l" t="t" r="r" b="b"/>
              <a:pathLst>
                <a:path w="7345706" h="4097909">
                  <a:moveTo>
                    <a:pt x="0" y="0"/>
                  </a:moveTo>
                  <a:lnTo>
                    <a:pt x="7345706" y="0"/>
                  </a:lnTo>
                  <a:lnTo>
                    <a:pt x="7345706" y="4097909"/>
                  </a:lnTo>
                  <a:lnTo>
                    <a:pt x="0" y="4097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 cstate="print"/>
              <a:stretch>
                <a:fillRect l="-8491" r="-849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295978" y="5866256"/>
            <a:ext cx="8963322" cy="4252930"/>
            <a:chOff x="0" y="0"/>
            <a:chExt cx="11951096" cy="56705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951146" cy="5670625"/>
            </a:xfrm>
            <a:custGeom>
              <a:avLst/>
              <a:gdLst/>
              <a:ahLst/>
              <a:cxnLst/>
              <a:rect l="l" t="t" r="r" b="b"/>
              <a:pathLst>
                <a:path w="11951146" h="5670625">
                  <a:moveTo>
                    <a:pt x="0" y="0"/>
                  </a:moveTo>
                  <a:lnTo>
                    <a:pt x="11951146" y="0"/>
                  </a:lnTo>
                  <a:lnTo>
                    <a:pt x="11951146" y="5670625"/>
                  </a:lnTo>
                  <a:lnTo>
                    <a:pt x="0" y="5670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 cstate="print"/>
              <a:stretch>
                <a:fillRect t="-6" b="-6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533400" y="0"/>
            <a:ext cx="4533662" cy="714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600" b="1" dirty="0">
                <a:solidFill>
                  <a:srgbClr val="371A2D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Website Preview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9878" y="1268607"/>
            <a:ext cx="17108091" cy="586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3"/>
              </a:lnSpc>
            </a:pPr>
            <a:r>
              <a:rPr lang="en-US" sz="3199" b="1" i="1">
                <a:solidFill>
                  <a:srgbClr val="432338"/>
                </a:solidFill>
                <a:latin typeface="Source Serif Pro Bold Italics"/>
                <a:ea typeface="Source Serif Pro Bold Italics"/>
                <a:cs typeface="Source Serif Pro Bold Italics"/>
                <a:sym typeface="Source Serif Pro Bold Italics"/>
              </a:rPr>
              <a:t>A glimpse into the Saheli experience — clean, intuitive, and designed for every woman.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7924200" y="192529"/>
            <a:ext cx="6391961" cy="112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799" b="1">
                <a:solidFill>
                  <a:srgbClr val="371A2D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Conclusion:</a:t>
            </a:r>
          </a:p>
          <a:p>
            <a:pPr algn="l">
              <a:lnSpc>
                <a:spcPts val="3993"/>
              </a:lnSpc>
            </a:pPr>
            <a:r>
              <a:rPr lang="en-US" sz="3200" b="1" i="1">
                <a:solidFill>
                  <a:srgbClr val="371A2D"/>
                </a:solidFill>
                <a:latin typeface="Source Serif Pro Bold Italics"/>
                <a:ea typeface="Source Serif Pro Bold Italics"/>
                <a:cs typeface="Source Serif Pro Bold Italics"/>
                <a:sym typeface="Source Serif Pro Bold Italics"/>
              </a:rPr>
              <a:t>Why Saheli?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900387" y="1617164"/>
            <a:ext cx="9345216" cy="1572968"/>
            <a:chOff x="0" y="0"/>
            <a:chExt cx="12460288" cy="20972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460224" cy="2097278"/>
            </a:xfrm>
            <a:custGeom>
              <a:avLst/>
              <a:gdLst/>
              <a:ahLst/>
              <a:cxnLst/>
              <a:rect l="l" t="t" r="r" b="b"/>
              <a:pathLst>
                <a:path w="12460224" h="2097278">
                  <a:moveTo>
                    <a:pt x="0" y="100076"/>
                  </a:moveTo>
                  <a:cubicBezTo>
                    <a:pt x="0" y="44831"/>
                    <a:pt x="44831" y="0"/>
                    <a:pt x="100076" y="0"/>
                  </a:cubicBezTo>
                  <a:lnTo>
                    <a:pt x="12360148" y="0"/>
                  </a:lnTo>
                  <a:cubicBezTo>
                    <a:pt x="12415393" y="0"/>
                    <a:pt x="12460224" y="44831"/>
                    <a:pt x="12460224" y="100076"/>
                  </a:cubicBezTo>
                  <a:lnTo>
                    <a:pt x="12460224" y="1997202"/>
                  </a:lnTo>
                  <a:cubicBezTo>
                    <a:pt x="12460224" y="2052447"/>
                    <a:pt x="12415393" y="2097278"/>
                    <a:pt x="12360148" y="2097278"/>
                  </a:cubicBezTo>
                  <a:lnTo>
                    <a:pt x="100076" y="2097278"/>
                  </a:lnTo>
                  <a:cubicBezTo>
                    <a:pt x="44831" y="2097278"/>
                    <a:pt x="0" y="2052447"/>
                    <a:pt x="0" y="1997202"/>
                  </a:cubicBezTo>
                  <a:close/>
                </a:path>
              </a:pathLst>
            </a:custGeom>
            <a:solidFill>
              <a:srgbClr val="FECDEC"/>
            </a:solidFill>
            <a:ln w="9526" cap="sq">
              <a:solidFill>
                <a:srgbClr val="E4B3D2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092230" y="1809007"/>
            <a:ext cx="532952" cy="532952"/>
            <a:chOff x="0" y="0"/>
            <a:chExt cx="710603" cy="7106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0565" cy="710565"/>
            </a:xfrm>
            <a:custGeom>
              <a:avLst/>
              <a:gdLst/>
              <a:ahLst/>
              <a:cxnLst/>
              <a:rect l="l" t="t" r="r" b="b"/>
              <a:pathLst>
                <a:path w="710565" h="710565">
                  <a:moveTo>
                    <a:pt x="0" y="355346"/>
                  </a:moveTo>
                  <a:cubicBezTo>
                    <a:pt x="0" y="159131"/>
                    <a:pt x="159131" y="0"/>
                    <a:pt x="355346" y="0"/>
                  </a:cubicBezTo>
                  <a:cubicBezTo>
                    <a:pt x="551561" y="0"/>
                    <a:pt x="710565" y="159131"/>
                    <a:pt x="710565" y="355346"/>
                  </a:cubicBezTo>
                  <a:cubicBezTo>
                    <a:pt x="710565" y="551561"/>
                    <a:pt x="551561" y="710565"/>
                    <a:pt x="355346" y="710565"/>
                  </a:cubicBezTo>
                  <a:cubicBezTo>
                    <a:pt x="159131" y="710565"/>
                    <a:pt x="0" y="551561"/>
                    <a:pt x="0" y="355346"/>
                  </a:cubicBezTo>
                  <a:close/>
                </a:path>
              </a:pathLst>
            </a:custGeom>
            <a:solidFill>
              <a:srgbClr val="FD8ED5"/>
            </a:solidFill>
          </p:spPr>
        </p:sp>
      </p:grpSp>
      <p:sp>
        <p:nvSpPr>
          <p:cNvPr id="11" name="Freeform 11" descr="preencoded.png"/>
          <p:cNvSpPr/>
          <p:nvPr/>
        </p:nvSpPr>
        <p:spPr>
          <a:xfrm>
            <a:off x="8238830" y="1955454"/>
            <a:ext cx="239763" cy="239763"/>
          </a:xfrm>
          <a:custGeom>
            <a:avLst/>
            <a:gdLst/>
            <a:ahLst/>
            <a:cxnLst/>
            <a:rect l="l" t="t" r="r" b="b"/>
            <a:pathLst>
              <a:path w="239763" h="239763">
                <a:moveTo>
                  <a:pt x="0" y="0"/>
                </a:moveTo>
                <a:lnTo>
                  <a:pt x="239763" y="0"/>
                </a:lnTo>
                <a:lnTo>
                  <a:pt x="239763" y="239763"/>
                </a:lnTo>
                <a:lnTo>
                  <a:pt x="0" y="239763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-3845" b="-3845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092230" y="2437809"/>
            <a:ext cx="2904172" cy="35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Personalized Support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92230" y="2752725"/>
            <a:ext cx="8961539" cy="315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19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Wellness guidance tailored to every woman's unique needs.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900387" y="3285973"/>
            <a:ext cx="9345216" cy="1572968"/>
            <a:chOff x="0" y="0"/>
            <a:chExt cx="12460288" cy="20972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60224" cy="2097278"/>
            </a:xfrm>
            <a:custGeom>
              <a:avLst/>
              <a:gdLst/>
              <a:ahLst/>
              <a:cxnLst/>
              <a:rect l="l" t="t" r="r" b="b"/>
              <a:pathLst>
                <a:path w="12460224" h="2097278">
                  <a:moveTo>
                    <a:pt x="0" y="100076"/>
                  </a:moveTo>
                  <a:cubicBezTo>
                    <a:pt x="0" y="44831"/>
                    <a:pt x="44831" y="0"/>
                    <a:pt x="100076" y="0"/>
                  </a:cubicBezTo>
                  <a:lnTo>
                    <a:pt x="12360148" y="0"/>
                  </a:lnTo>
                  <a:cubicBezTo>
                    <a:pt x="12415393" y="0"/>
                    <a:pt x="12460224" y="44831"/>
                    <a:pt x="12460224" y="100076"/>
                  </a:cubicBezTo>
                  <a:lnTo>
                    <a:pt x="12460224" y="1997202"/>
                  </a:lnTo>
                  <a:cubicBezTo>
                    <a:pt x="12460224" y="2052447"/>
                    <a:pt x="12415393" y="2097278"/>
                    <a:pt x="12360148" y="2097278"/>
                  </a:cubicBezTo>
                  <a:lnTo>
                    <a:pt x="100076" y="2097278"/>
                  </a:lnTo>
                  <a:cubicBezTo>
                    <a:pt x="44831" y="2097278"/>
                    <a:pt x="0" y="2052447"/>
                    <a:pt x="0" y="1997202"/>
                  </a:cubicBezTo>
                  <a:close/>
                </a:path>
              </a:pathLst>
            </a:custGeom>
            <a:solidFill>
              <a:srgbClr val="FECDEC"/>
            </a:solidFill>
            <a:ln w="9526" cap="sq">
              <a:solidFill>
                <a:srgbClr val="E4B3D2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092230" y="3477816"/>
            <a:ext cx="532952" cy="532952"/>
            <a:chOff x="0" y="0"/>
            <a:chExt cx="710603" cy="71060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0565" cy="710565"/>
            </a:xfrm>
            <a:custGeom>
              <a:avLst/>
              <a:gdLst/>
              <a:ahLst/>
              <a:cxnLst/>
              <a:rect l="l" t="t" r="r" b="b"/>
              <a:pathLst>
                <a:path w="710565" h="710565">
                  <a:moveTo>
                    <a:pt x="0" y="355346"/>
                  </a:moveTo>
                  <a:cubicBezTo>
                    <a:pt x="0" y="159131"/>
                    <a:pt x="159131" y="0"/>
                    <a:pt x="355346" y="0"/>
                  </a:cubicBezTo>
                  <a:cubicBezTo>
                    <a:pt x="551561" y="0"/>
                    <a:pt x="710565" y="159131"/>
                    <a:pt x="710565" y="355346"/>
                  </a:cubicBezTo>
                  <a:cubicBezTo>
                    <a:pt x="710565" y="551561"/>
                    <a:pt x="551561" y="710565"/>
                    <a:pt x="355346" y="710565"/>
                  </a:cubicBezTo>
                  <a:cubicBezTo>
                    <a:pt x="159131" y="710565"/>
                    <a:pt x="0" y="551561"/>
                    <a:pt x="0" y="355346"/>
                  </a:cubicBezTo>
                  <a:close/>
                </a:path>
              </a:pathLst>
            </a:custGeom>
            <a:solidFill>
              <a:srgbClr val="FD8ED5"/>
            </a:solidFill>
          </p:spPr>
        </p:sp>
      </p:grpSp>
      <p:sp>
        <p:nvSpPr>
          <p:cNvPr id="18" name="Freeform 18" descr="preencoded.png"/>
          <p:cNvSpPr/>
          <p:nvPr/>
        </p:nvSpPr>
        <p:spPr>
          <a:xfrm>
            <a:off x="8238830" y="3624262"/>
            <a:ext cx="239763" cy="239763"/>
          </a:xfrm>
          <a:custGeom>
            <a:avLst/>
            <a:gdLst/>
            <a:ahLst/>
            <a:cxnLst/>
            <a:rect l="l" t="t" r="r" b="b"/>
            <a:pathLst>
              <a:path w="239763" h="239763">
                <a:moveTo>
                  <a:pt x="0" y="0"/>
                </a:moveTo>
                <a:lnTo>
                  <a:pt x="239763" y="0"/>
                </a:lnTo>
                <a:lnTo>
                  <a:pt x="239763" y="239764"/>
                </a:lnTo>
                <a:lnTo>
                  <a:pt x="0" y="239764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 t="-3845" b="-3845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092230" y="4106618"/>
            <a:ext cx="3052286" cy="35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AI Medication Tracker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92230" y="4421534"/>
            <a:ext cx="8961539" cy="315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19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Smart reminders and continuous wellness support, 24/7.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900387" y="4954781"/>
            <a:ext cx="9345216" cy="1572968"/>
            <a:chOff x="0" y="0"/>
            <a:chExt cx="12460288" cy="209729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460224" cy="2097278"/>
            </a:xfrm>
            <a:custGeom>
              <a:avLst/>
              <a:gdLst/>
              <a:ahLst/>
              <a:cxnLst/>
              <a:rect l="l" t="t" r="r" b="b"/>
              <a:pathLst>
                <a:path w="12460224" h="2097278">
                  <a:moveTo>
                    <a:pt x="0" y="100076"/>
                  </a:moveTo>
                  <a:cubicBezTo>
                    <a:pt x="0" y="44831"/>
                    <a:pt x="44831" y="0"/>
                    <a:pt x="100076" y="0"/>
                  </a:cubicBezTo>
                  <a:lnTo>
                    <a:pt x="12360148" y="0"/>
                  </a:lnTo>
                  <a:cubicBezTo>
                    <a:pt x="12415393" y="0"/>
                    <a:pt x="12460224" y="44831"/>
                    <a:pt x="12460224" y="100076"/>
                  </a:cubicBezTo>
                  <a:lnTo>
                    <a:pt x="12460224" y="1997202"/>
                  </a:lnTo>
                  <a:cubicBezTo>
                    <a:pt x="12460224" y="2052447"/>
                    <a:pt x="12415393" y="2097278"/>
                    <a:pt x="12360148" y="2097278"/>
                  </a:cubicBezTo>
                  <a:lnTo>
                    <a:pt x="100076" y="2097278"/>
                  </a:lnTo>
                  <a:cubicBezTo>
                    <a:pt x="44831" y="2097278"/>
                    <a:pt x="0" y="2052447"/>
                    <a:pt x="0" y="1997202"/>
                  </a:cubicBezTo>
                  <a:close/>
                </a:path>
              </a:pathLst>
            </a:custGeom>
            <a:solidFill>
              <a:srgbClr val="FECDEC"/>
            </a:solidFill>
            <a:ln w="9526" cap="sq">
              <a:solidFill>
                <a:srgbClr val="E4B3D2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8092230" y="5146624"/>
            <a:ext cx="532952" cy="532952"/>
            <a:chOff x="0" y="0"/>
            <a:chExt cx="710603" cy="7106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0565" cy="710565"/>
            </a:xfrm>
            <a:custGeom>
              <a:avLst/>
              <a:gdLst/>
              <a:ahLst/>
              <a:cxnLst/>
              <a:rect l="l" t="t" r="r" b="b"/>
              <a:pathLst>
                <a:path w="710565" h="710565">
                  <a:moveTo>
                    <a:pt x="0" y="355346"/>
                  </a:moveTo>
                  <a:cubicBezTo>
                    <a:pt x="0" y="159131"/>
                    <a:pt x="159131" y="0"/>
                    <a:pt x="355346" y="0"/>
                  </a:cubicBezTo>
                  <a:cubicBezTo>
                    <a:pt x="551561" y="0"/>
                    <a:pt x="710565" y="159131"/>
                    <a:pt x="710565" y="355346"/>
                  </a:cubicBezTo>
                  <a:cubicBezTo>
                    <a:pt x="710565" y="551561"/>
                    <a:pt x="551561" y="710565"/>
                    <a:pt x="355346" y="710565"/>
                  </a:cubicBezTo>
                  <a:cubicBezTo>
                    <a:pt x="159131" y="710565"/>
                    <a:pt x="0" y="551561"/>
                    <a:pt x="0" y="355346"/>
                  </a:cubicBezTo>
                  <a:close/>
                </a:path>
              </a:pathLst>
            </a:custGeom>
            <a:solidFill>
              <a:srgbClr val="FD8ED5"/>
            </a:solidFill>
          </p:spPr>
        </p:sp>
      </p:grpSp>
      <p:sp>
        <p:nvSpPr>
          <p:cNvPr id="25" name="Freeform 25" descr="preencoded.png"/>
          <p:cNvSpPr/>
          <p:nvPr/>
        </p:nvSpPr>
        <p:spPr>
          <a:xfrm>
            <a:off x="8238830" y="5293071"/>
            <a:ext cx="239763" cy="239763"/>
          </a:xfrm>
          <a:custGeom>
            <a:avLst/>
            <a:gdLst/>
            <a:ahLst/>
            <a:cxnLst/>
            <a:rect l="l" t="t" r="r" b="b"/>
            <a:pathLst>
              <a:path w="239763" h="239763">
                <a:moveTo>
                  <a:pt x="0" y="0"/>
                </a:moveTo>
                <a:lnTo>
                  <a:pt x="239763" y="0"/>
                </a:lnTo>
                <a:lnTo>
                  <a:pt x="239763" y="239763"/>
                </a:lnTo>
                <a:lnTo>
                  <a:pt x="0" y="239763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5768" r="-5768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8092230" y="5775427"/>
            <a:ext cx="2351008" cy="35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Holistic Wellness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92230" y="6090342"/>
            <a:ext cx="8961539" cy="315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19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Mental health, fitness, nutrition, and AI — all in one platform.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900387" y="6623599"/>
            <a:ext cx="9345216" cy="1572968"/>
            <a:chOff x="0" y="0"/>
            <a:chExt cx="12460288" cy="209729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460224" cy="2097278"/>
            </a:xfrm>
            <a:custGeom>
              <a:avLst/>
              <a:gdLst/>
              <a:ahLst/>
              <a:cxnLst/>
              <a:rect l="l" t="t" r="r" b="b"/>
              <a:pathLst>
                <a:path w="12460224" h="2097278">
                  <a:moveTo>
                    <a:pt x="0" y="100076"/>
                  </a:moveTo>
                  <a:cubicBezTo>
                    <a:pt x="0" y="44831"/>
                    <a:pt x="44831" y="0"/>
                    <a:pt x="100076" y="0"/>
                  </a:cubicBezTo>
                  <a:lnTo>
                    <a:pt x="12360148" y="0"/>
                  </a:lnTo>
                  <a:cubicBezTo>
                    <a:pt x="12415393" y="0"/>
                    <a:pt x="12460224" y="44831"/>
                    <a:pt x="12460224" y="100076"/>
                  </a:cubicBezTo>
                  <a:lnTo>
                    <a:pt x="12460224" y="1997202"/>
                  </a:lnTo>
                  <a:cubicBezTo>
                    <a:pt x="12460224" y="2052447"/>
                    <a:pt x="12415393" y="2097278"/>
                    <a:pt x="12360148" y="2097278"/>
                  </a:cubicBezTo>
                  <a:lnTo>
                    <a:pt x="100076" y="2097278"/>
                  </a:lnTo>
                  <a:cubicBezTo>
                    <a:pt x="44831" y="2097278"/>
                    <a:pt x="0" y="2052447"/>
                    <a:pt x="0" y="1997202"/>
                  </a:cubicBezTo>
                  <a:close/>
                </a:path>
              </a:pathLst>
            </a:custGeom>
            <a:solidFill>
              <a:srgbClr val="FECDEC"/>
            </a:solidFill>
            <a:ln w="9526" cap="sq">
              <a:solidFill>
                <a:srgbClr val="E4B3D2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8092230" y="6815433"/>
            <a:ext cx="532952" cy="532952"/>
            <a:chOff x="0" y="0"/>
            <a:chExt cx="710603" cy="71060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10565" cy="710565"/>
            </a:xfrm>
            <a:custGeom>
              <a:avLst/>
              <a:gdLst/>
              <a:ahLst/>
              <a:cxnLst/>
              <a:rect l="l" t="t" r="r" b="b"/>
              <a:pathLst>
                <a:path w="710565" h="710565">
                  <a:moveTo>
                    <a:pt x="0" y="355346"/>
                  </a:moveTo>
                  <a:cubicBezTo>
                    <a:pt x="0" y="159131"/>
                    <a:pt x="159131" y="0"/>
                    <a:pt x="355346" y="0"/>
                  </a:cubicBezTo>
                  <a:cubicBezTo>
                    <a:pt x="551561" y="0"/>
                    <a:pt x="710565" y="159131"/>
                    <a:pt x="710565" y="355346"/>
                  </a:cubicBezTo>
                  <a:cubicBezTo>
                    <a:pt x="710565" y="551561"/>
                    <a:pt x="551561" y="710565"/>
                    <a:pt x="355346" y="710565"/>
                  </a:cubicBezTo>
                  <a:cubicBezTo>
                    <a:pt x="159131" y="710565"/>
                    <a:pt x="0" y="551561"/>
                    <a:pt x="0" y="355346"/>
                  </a:cubicBezTo>
                  <a:close/>
                </a:path>
              </a:pathLst>
            </a:custGeom>
            <a:solidFill>
              <a:srgbClr val="FD8ED5"/>
            </a:solidFill>
          </p:spPr>
        </p:sp>
      </p:grpSp>
      <p:sp>
        <p:nvSpPr>
          <p:cNvPr id="32" name="Freeform 32" descr="preencoded.png"/>
          <p:cNvSpPr/>
          <p:nvPr/>
        </p:nvSpPr>
        <p:spPr>
          <a:xfrm>
            <a:off x="8238830" y="6961880"/>
            <a:ext cx="239763" cy="239763"/>
          </a:xfrm>
          <a:custGeom>
            <a:avLst/>
            <a:gdLst/>
            <a:ahLst/>
            <a:cxnLst/>
            <a:rect l="l" t="t" r="r" b="b"/>
            <a:pathLst>
              <a:path w="239763" h="239763">
                <a:moveTo>
                  <a:pt x="0" y="0"/>
                </a:moveTo>
                <a:lnTo>
                  <a:pt x="239763" y="0"/>
                </a:lnTo>
                <a:lnTo>
                  <a:pt x="239763" y="239763"/>
                </a:lnTo>
                <a:lnTo>
                  <a:pt x="0" y="239763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 t="-11536" b="-11540"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8092230" y="7444235"/>
            <a:ext cx="2425779" cy="35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Safe Environment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092230" y="7759151"/>
            <a:ext cx="8961539" cy="315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19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 secure, anonymous community designed to empower women.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905150" y="8310410"/>
            <a:ext cx="19050" cy="463744"/>
            <a:chOff x="0" y="0"/>
            <a:chExt cx="25400" cy="61832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5400" cy="618363"/>
            </a:xfrm>
            <a:custGeom>
              <a:avLst/>
              <a:gdLst/>
              <a:ahLst/>
              <a:cxnLst/>
              <a:rect l="l" t="t" r="r" b="b"/>
              <a:pathLst>
                <a:path w="25400" h="618363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605663"/>
                  </a:lnTo>
                  <a:cubicBezTo>
                    <a:pt x="25400" y="612648"/>
                    <a:pt x="19685" y="618363"/>
                    <a:pt x="12700" y="618363"/>
                  </a:cubicBezTo>
                  <a:cubicBezTo>
                    <a:pt x="5715" y="618363"/>
                    <a:pt x="0" y="612648"/>
                    <a:pt x="0" y="605663"/>
                  </a:cubicBezTo>
                  <a:close/>
                </a:path>
              </a:pathLst>
            </a:custGeom>
            <a:solidFill>
              <a:srgbClr val="FD8ED5"/>
            </a:solidFill>
          </p:spPr>
        </p:sp>
      </p:grpSp>
      <p:sp>
        <p:nvSpPr>
          <p:cNvPr id="37" name="TextBox 37"/>
          <p:cNvSpPr txBox="1"/>
          <p:nvPr/>
        </p:nvSpPr>
        <p:spPr>
          <a:xfrm>
            <a:off x="7900387" y="8300885"/>
            <a:ext cx="9983686" cy="32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2099" b="1">
                <a:solidFill>
                  <a:srgbClr val="432338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"Empowering Every Woman, One Healthy Step at a Time."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00387" y="8672817"/>
            <a:ext cx="9335691" cy="94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43"/>
              </a:lnSpc>
            </a:pPr>
            <a:r>
              <a:rPr lang="en-US" sz="1999">
                <a:solidFill>
                  <a:srgbClr val="432338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Our vision is to make accessible wellness resources, personalized guidance, and AI-driven technology available to every woman — promoting healthier, happier, and more confident lives.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7-10 at 10.07.43 P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728</Words>
  <Application>Microsoft Office PowerPoint</Application>
  <PresentationFormat>Custom</PresentationFormat>
  <Paragraphs>97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Source Serif Pro Bold</vt:lpstr>
      <vt:lpstr>Source Serif Pro</vt:lpstr>
      <vt:lpstr>Canva Sans Bold</vt:lpstr>
      <vt:lpstr>Calibri</vt:lpstr>
      <vt:lpstr>Source Serif Pro Bold Italics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AI-Womens-Wellness-Companion.pptx</dc:title>
  <cp:lastModifiedBy>USER</cp:lastModifiedBy>
  <cp:revision>5</cp:revision>
  <dcterms:created xsi:type="dcterms:W3CDTF">2006-08-16T00:00:00Z</dcterms:created>
  <dcterms:modified xsi:type="dcterms:W3CDTF">2026-07-10T16:38:50Z</dcterms:modified>
  <dc:identifier>DAHO_0RwE0s</dc:identifier>
</cp:coreProperties>
</file>